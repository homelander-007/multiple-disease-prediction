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69" r:id="rId5"/>
    <p:sldId id="259" r:id="rId6"/>
    <p:sldId id="270" r:id="rId7"/>
    <p:sldId id="260" r:id="rId8"/>
    <p:sldId id="271" r:id="rId9"/>
    <p:sldId id="272" r:id="rId10"/>
    <p:sldId id="273" r:id="rId11"/>
    <p:sldId id="262"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66" r:id="rId31"/>
    <p:sldId id="267" r:id="rId32"/>
  </p:sldIdLst>
  <p:sldSz cx="9144000" cy="5143500" type="screen16x9"/>
  <p:notesSz cx="6858000" cy="9144000"/>
  <p:embeddedFontLst>
    <p:embeddedFont>
      <p:font typeface="IBM Plex Sans" panose="020B0503050203000203" pitchFamily="34" charset="0"/>
      <p:regular r:id="rId34"/>
      <p:bold r:id="rId35"/>
      <p:italic r:id="rId36"/>
      <p:boldItalic r:id="rId37"/>
    </p:embeddedFont>
    <p:embeddedFont>
      <p:font typeface="IBM Plex Sans Medium" panose="020B0603050203000203"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B79297-A9BE-452E-9699-00BEF1B0EC9E}" v="64" dt="2024-08-03T12:00:20.4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ec6a1759d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2ec6a1759d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ec6a1759d4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ec6a1759d4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ec6a1759d4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ec6a1759d4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424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ec6a1759d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ec6a1759d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ec6a1759d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ec6a1759d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5733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ec6a1759d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ec6a1759d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ec6a1759d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ec6a1759d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9131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ec6a1759d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ec6a1759d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0937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ec6a1759d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ec6a1759d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1956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3473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8743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4438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9701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93365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65820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22460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56068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27723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37852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06139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972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93834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87417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97917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29370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49073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c6a1759d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c6a1759d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4583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ec6a1759d4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ec6a1759d4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ec6a1759d4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ec6a1759d4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2.jp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4.jpg"/><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www.kaggle.com/datasets/rabieelkharoua/alzheimers-disease-dataset"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www.kaggle.com/datasets/rabieelkharoua/asthma-disease-dataset"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kaggle.com/datasets/zain280/diabeties-dataset" TargetMode="External"/><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www.kaggle.com/datasets/mexwell/heart-disease-dataset"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datasets/rabieelkharoua/chronic-kidney-disease-dataset-analysis" TargetMode="Externa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s://www.kaggle.com/datasets/rabieelkharoua/predict-liver-disease-1700-records-datase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1.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1727"/>
        </a:solidFill>
        <a:effectLst/>
      </p:bgPr>
    </p:bg>
    <p:spTree>
      <p:nvGrpSpPr>
        <p:cNvPr id="1" name="Shape 53"/>
        <p:cNvGrpSpPr/>
        <p:nvPr/>
      </p:nvGrpSpPr>
      <p:grpSpPr>
        <a:xfrm>
          <a:off x="0" y="0"/>
          <a:ext cx="0" cy="0"/>
          <a:chOff x="0" y="0"/>
          <a:chExt cx="0" cy="0"/>
        </a:xfrm>
      </p:grpSpPr>
      <p:sp>
        <p:nvSpPr>
          <p:cNvPr id="54" name="Google Shape;54;p13"/>
          <p:cNvSpPr txBox="1"/>
          <p:nvPr/>
        </p:nvSpPr>
        <p:spPr>
          <a:xfrm>
            <a:off x="208675" y="857600"/>
            <a:ext cx="6854400" cy="7824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dirty="0">
                <a:solidFill>
                  <a:schemeClr val="lt1"/>
                </a:solidFill>
                <a:latin typeface="IBM Plex Sans Medium"/>
                <a:ea typeface="IBM Plex Sans Medium"/>
                <a:cs typeface="IBM Plex Sans Medium"/>
                <a:sym typeface="IBM Plex Sans Medium"/>
              </a:rPr>
              <a:t>Data Analytics Internship Program 2024</a:t>
            </a:r>
            <a:br>
              <a:rPr lang="en" sz="1800" dirty="0">
                <a:solidFill>
                  <a:schemeClr val="lt1"/>
                </a:solidFill>
                <a:latin typeface="IBM Plex Sans Medium"/>
                <a:ea typeface="IBM Plex Sans Medium"/>
                <a:cs typeface="IBM Plex Sans Medium"/>
                <a:sym typeface="IBM Plex Sans Medium"/>
              </a:rPr>
            </a:br>
            <a:r>
              <a:rPr lang="en" sz="1800" dirty="0">
                <a:solidFill>
                  <a:schemeClr val="lt1"/>
                </a:solidFill>
                <a:latin typeface="IBM Plex Sans Medium"/>
                <a:ea typeface="IBM Plex Sans Medium"/>
                <a:cs typeface="IBM Plex Sans Medium"/>
                <a:sym typeface="IBM Plex Sans Medium"/>
              </a:rPr>
              <a:t>Final Project Presentation</a:t>
            </a:r>
            <a:endParaRPr sz="1800" dirty="0">
              <a:solidFill>
                <a:schemeClr val="lt1"/>
              </a:solidFill>
              <a:latin typeface="IBM Plex Sans Medium"/>
              <a:ea typeface="IBM Plex Sans Medium"/>
              <a:cs typeface="IBM Plex Sans Medium"/>
              <a:sym typeface="IBM Plex Sans Medium"/>
            </a:endParaRPr>
          </a:p>
        </p:txBody>
      </p:sp>
      <p:sp>
        <p:nvSpPr>
          <p:cNvPr id="55" name="Google Shape;55;p13"/>
          <p:cNvSpPr txBox="1"/>
          <p:nvPr/>
        </p:nvSpPr>
        <p:spPr>
          <a:xfrm>
            <a:off x="4334400" y="50150"/>
            <a:ext cx="4809600" cy="4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lt1"/>
                </a:solidFill>
                <a:latin typeface="IBM Plex Sans"/>
                <a:ea typeface="IBM Plex Sans"/>
                <a:cs typeface="IBM Plex Sans"/>
                <a:sym typeface="IBM Plex Sans"/>
              </a:rPr>
              <a:t>IBM</a:t>
            </a:r>
            <a:r>
              <a:rPr lang="en" sz="1600">
                <a:solidFill>
                  <a:schemeClr val="lt1"/>
                </a:solidFill>
                <a:latin typeface="IBM Plex Sans Medium"/>
                <a:ea typeface="IBM Plex Sans Medium"/>
                <a:cs typeface="IBM Plex Sans Medium"/>
                <a:sym typeface="IBM Plex Sans Medium"/>
              </a:rPr>
              <a:t> </a:t>
            </a:r>
            <a:r>
              <a:rPr lang="en" sz="1600">
                <a:solidFill>
                  <a:schemeClr val="lt1"/>
                </a:solidFill>
                <a:latin typeface="IBM Plex Sans"/>
                <a:ea typeface="IBM Plex Sans"/>
                <a:cs typeface="IBM Plex Sans"/>
                <a:sym typeface="IBM Plex Sans"/>
              </a:rPr>
              <a:t>SkillsBuild</a:t>
            </a:r>
            <a:r>
              <a:rPr lang="en" sz="1600" b="1">
                <a:solidFill>
                  <a:schemeClr val="lt1"/>
                </a:solidFill>
                <a:latin typeface="IBM Plex Sans"/>
                <a:ea typeface="IBM Plex Sans"/>
                <a:cs typeface="IBM Plex Sans"/>
                <a:sym typeface="IBM Plex Sans"/>
              </a:rPr>
              <a:t> </a:t>
            </a:r>
            <a:r>
              <a:rPr lang="en" sz="1600">
                <a:solidFill>
                  <a:schemeClr val="lt1"/>
                </a:solidFill>
                <a:latin typeface="IBM Plex Sans"/>
                <a:ea typeface="IBM Plex Sans"/>
                <a:cs typeface="IBM Plex Sans"/>
                <a:sym typeface="IBM Plex Sans"/>
              </a:rPr>
              <a:t>for Adult Learners - Data Analytics</a:t>
            </a:r>
            <a:endParaRPr sz="1600">
              <a:solidFill>
                <a:schemeClr val="lt1"/>
              </a:solidFill>
              <a:latin typeface="IBM Plex Sans"/>
              <a:ea typeface="IBM Plex Sans"/>
              <a:cs typeface="IBM Plex Sans"/>
              <a:sym typeface="IBM Plex Sans"/>
            </a:endParaRPr>
          </a:p>
        </p:txBody>
      </p:sp>
      <p:sp>
        <p:nvSpPr>
          <p:cNvPr id="56" name="Google Shape;56;p13"/>
          <p:cNvSpPr/>
          <p:nvPr/>
        </p:nvSpPr>
        <p:spPr>
          <a:xfrm>
            <a:off x="0" y="2046775"/>
            <a:ext cx="9144000" cy="2076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r>
              <a:rPr lang="en" sz="1600" dirty="0">
                <a:latin typeface="IBM Plex Sans Medium"/>
                <a:ea typeface="IBM Plex Sans Medium"/>
                <a:cs typeface="IBM Plex Sans Medium"/>
                <a:sym typeface="IBM Plex Sans Medium"/>
              </a:rPr>
              <a:t>Project Name		: </a:t>
            </a:r>
            <a:r>
              <a:rPr lang="en-IN" sz="1800" dirty="0">
                <a:effectLst/>
                <a:latin typeface="ui-sans-serif"/>
                <a:ea typeface="Arial" panose="020B0604020202020204" pitchFamily="34" charset="0"/>
                <a:cs typeface="Arial" panose="020B0604020202020204" pitchFamily="34" charset="0"/>
              </a:rPr>
              <a:t>Multiple Disease Prediction </a:t>
            </a:r>
            <a:endParaRPr sz="1600" dirty="0">
              <a:latin typeface="ui-sans-serif"/>
              <a:ea typeface="IBM Plex Sans Medium"/>
              <a:cs typeface="IBM Plex Sans Medium"/>
              <a:sym typeface="IBM Plex Sans Medium"/>
            </a:endParaRPr>
          </a:p>
          <a:p>
            <a:r>
              <a:rPr lang="en" sz="1600" dirty="0">
                <a:latin typeface="IBM Plex Sans Medium"/>
                <a:ea typeface="IBM Plex Sans Medium"/>
                <a:cs typeface="IBM Plex Sans Medium"/>
                <a:sym typeface="IBM Plex Sans Medium"/>
              </a:rPr>
              <a:t>Unique ID		: </a:t>
            </a:r>
            <a:r>
              <a:rPr lang="en-IN" sz="2000" b="0" i="0" dirty="0">
                <a:solidFill>
                  <a:srgbClr val="4F5050"/>
                </a:solidFill>
                <a:effectLst/>
                <a:highlight>
                  <a:srgbClr val="FFFFFF"/>
                </a:highlight>
                <a:latin typeface="ui-sans-serif"/>
              </a:rPr>
              <a:t>IBM1652</a:t>
            </a:r>
            <a:br>
              <a:rPr lang="en" sz="1600" dirty="0">
                <a:latin typeface="IBM Plex Sans Medium"/>
                <a:ea typeface="IBM Plex Sans Medium"/>
                <a:cs typeface="IBM Plex Sans Medium"/>
                <a:sym typeface="IBM Plex Sans Medium"/>
              </a:rPr>
            </a:br>
            <a:r>
              <a:rPr lang="en" sz="1600" dirty="0">
                <a:latin typeface="IBM Plex Sans Medium"/>
                <a:ea typeface="IBM Plex Sans Medium"/>
                <a:cs typeface="IBM Plex Sans Medium"/>
                <a:sym typeface="IBM Plex Sans Medium"/>
              </a:rPr>
              <a:t>Team Name		: </a:t>
            </a:r>
            <a:r>
              <a:rPr lang="en-IN" sz="2000" i="0" dirty="0">
                <a:effectLst/>
                <a:highlight>
                  <a:srgbClr val="FFFFFF"/>
                </a:highlight>
                <a:latin typeface="ui-sans-serif"/>
              </a:rPr>
              <a:t>Code breakers</a:t>
            </a:r>
          </a:p>
          <a:p>
            <a:pPr marL="0" lvl="0" indent="0" rtl="0">
              <a:spcBef>
                <a:spcPts val="0"/>
              </a:spcBef>
              <a:spcAft>
                <a:spcPts val="0"/>
              </a:spcAft>
              <a:buNone/>
            </a:pPr>
            <a:endParaRPr sz="1600" dirty="0">
              <a:latin typeface="IBM Plex Sans Medium"/>
              <a:ea typeface="IBM Plex Sans Medium"/>
              <a:cs typeface="IBM Plex Sans Medium"/>
              <a:sym typeface="IBM Plex Sans Medium"/>
            </a:endParaRPr>
          </a:p>
          <a:p>
            <a:pPr marL="0" lvl="0" indent="0" rtl="0">
              <a:spcBef>
                <a:spcPts val="0"/>
              </a:spcBef>
              <a:spcAft>
                <a:spcPts val="0"/>
              </a:spcAft>
              <a:buNone/>
            </a:pPr>
            <a:r>
              <a:rPr lang="en" sz="1600" dirty="0">
                <a:latin typeface="IBM Plex Sans Medium"/>
                <a:ea typeface="IBM Plex Sans Medium"/>
                <a:cs typeface="IBM Plex Sans Medium"/>
                <a:sym typeface="IBM Plex Sans Medium"/>
              </a:rPr>
              <a:t>College Name		: </a:t>
            </a:r>
            <a:r>
              <a:rPr lang="en-US" sz="2000" b="0" i="0" dirty="0">
                <a:solidFill>
                  <a:srgbClr val="4F5050"/>
                </a:solidFill>
                <a:effectLst/>
                <a:highlight>
                  <a:srgbClr val="FFFFFF"/>
                </a:highlight>
                <a:latin typeface="ui-sans-serif"/>
              </a:rPr>
              <a:t>Guru Jambeshwar University Of Science and Technology,                     </a:t>
            </a:r>
          </a:p>
          <a:p>
            <a:pPr marL="0" lvl="0" indent="0" algn="ctr" rtl="0">
              <a:spcBef>
                <a:spcPts val="0"/>
              </a:spcBef>
              <a:spcAft>
                <a:spcPts val="0"/>
              </a:spcAft>
              <a:buNone/>
            </a:pPr>
            <a:r>
              <a:rPr lang="en-US" sz="2000" b="0" i="0" dirty="0">
                <a:solidFill>
                  <a:srgbClr val="4F5050"/>
                </a:solidFill>
                <a:effectLst/>
                <a:highlight>
                  <a:srgbClr val="FFFFFF"/>
                </a:highlight>
                <a:latin typeface="ui-sans-serif"/>
              </a:rPr>
              <a:t>Hisar</a:t>
            </a:r>
            <a:endParaRPr sz="1600" dirty="0">
              <a:latin typeface="IBM Plex Sans Medium"/>
              <a:ea typeface="IBM Plex Sans Medium"/>
              <a:cs typeface="IBM Plex Sans Medium"/>
              <a:sym typeface="IBM Plex Sans Medium"/>
            </a:endParaRPr>
          </a:p>
        </p:txBody>
      </p:sp>
      <p:sp>
        <p:nvSpPr>
          <p:cNvPr id="57" name="Google Shape;57;p13"/>
          <p:cNvSpPr/>
          <p:nvPr/>
        </p:nvSpPr>
        <p:spPr>
          <a:xfrm>
            <a:off x="313000" y="1316675"/>
            <a:ext cx="6969300" cy="31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 name="Google Shape;58;p13"/>
          <p:cNvSpPr/>
          <p:nvPr/>
        </p:nvSpPr>
        <p:spPr>
          <a:xfrm>
            <a:off x="0" y="4018825"/>
            <a:ext cx="9144000" cy="959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9" name="Google Shape;59;p13"/>
          <p:cNvPicPr preferRelativeResize="0"/>
          <p:nvPr/>
        </p:nvPicPr>
        <p:blipFill>
          <a:blip r:embed="rId3">
            <a:alphaModFix/>
          </a:blip>
          <a:stretch>
            <a:fillRect/>
          </a:stretch>
        </p:blipFill>
        <p:spPr>
          <a:xfrm>
            <a:off x="7282300" y="4288751"/>
            <a:ext cx="1711124" cy="584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
        <p:cNvGrpSpPr/>
        <p:nvPr/>
      </p:nvGrpSpPr>
      <p:grpSpPr>
        <a:xfrm>
          <a:off x="0" y="0"/>
          <a:ext cx="0" cy="0"/>
          <a:chOff x="0" y="0"/>
          <a:chExt cx="0" cy="0"/>
        </a:xfrm>
      </p:grpSpPr>
      <p:sp>
        <p:nvSpPr>
          <p:cNvPr id="64" name="Google Shape;64;p14"/>
          <p:cNvSpPr txBox="1"/>
          <p:nvPr/>
        </p:nvSpPr>
        <p:spPr>
          <a:xfrm>
            <a:off x="0" y="169000"/>
            <a:ext cx="9144000" cy="47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u="sng" dirty="0">
                <a:solidFill>
                  <a:schemeClr val="dk1"/>
                </a:solidFill>
                <a:effectLst>
                  <a:outerShdw blurRad="38100" dist="38100" dir="2700000" algn="tl">
                    <a:srgbClr val="000000">
                      <a:alpha val="43137"/>
                    </a:srgbClr>
                  </a:outerShdw>
                </a:effectLst>
                <a:latin typeface="IBM Plex Sans Medium"/>
                <a:ea typeface="IBM Plex Sans Medium"/>
                <a:cs typeface="IBM Plex Sans Medium"/>
                <a:sym typeface="IBM Plex Sans Medium"/>
              </a:rPr>
              <a:t>Team Members</a:t>
            </a:r>
            <a:endParaRPr sz="2400" b="1" u="sng" dirty="0">
              <a:solidFill>
                <a:schemeClr val="dk1"/>
              </a:solidFill>
              <a:effectLst>
                <a:outerShdw blurRad="38100" dist="38100" dir="2700000" algn="tl">
                  <a:srgbClr val="000000">
                    <a:alpha val="43137"/>
                  </a:srgbClr>
                </a:outerShdw>
              </a:effectLst>
              <a:latin typeface="IBM Plex Sans Medium"/>
              <a:ea typeface="IBM Plex Sans Medium"/>
              <a:cs typeface="IBM Plex Sans Medium"/>
              <a:sym typeface="IBM Plex Sans Medium"/>
            </a:endParaRPr>
          </a:p>
        </p:txBody>
      </p:sp>
      <p:sp>
        <p:nvSpPr>
          <p:cNvPr id="65" name="Google Shape;65;p14"/>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 name="Picture 4">
            <a:extLst>
              <a:ext uri="{FF2B5EF4-FFF2-40B4-BE49-F238E27FC236}">
                <a16:creationId xmlns:a16="http://schemas.microsoft.com/office/drawing/2014/main" id="{EA4F9193-6448-54BF-449F-25A50C49AC04}"/>
              </a:ext>
            </a:extLst>
          </p:cNvPr>
          <p:cNvPicPr>
            <a:picLocks noChangeAspect="1"/>
          </p:cNvPicPr>
          <p:nvPr/>
        </p:nvPicPr>
        <p:blipFill>
          <a:blip r:embed="rId3"/>
          <a:stretch>
            <a:fillRect/>
          </a:stretch>
        </p:blipFill>
        <p:spPr>
          <a:xfrm>
            <a:off x="5536458" y="3246321"/>
            <a:ext cx="1204544" cy="1055649"/>
          </a:xfrm>
          <a:prstGeom prst="ellipse">
            <a:avLst/>
          </a:prstGeom>
          <a:ln/>
        </p:spPr>
        <p:style>
          <a:lnRef idx="1">
            <a:schemeClr val="dk1"/>
          </a:lnRef>
          <a:fillRef idx="2">
            <a:schemeClr val="dk1"/>
          </a:fillRef>
          <a:effectRef idx="1">
            <a:schemeClr val="dk1"/>
          </a:effectRef>
          <a:fontRef idx="minor">
            <a:schemeClr val="dk1"/>
          </a:fontRef>
        </p:style>
      </p:pic>
      <p:pic>
        <p:nvPicPr>
          <p:cNvPr id="7" name="Picture 6">
            <a:extLst>
              <a:ext uri="{FF2B5EF4-FFF2-40B4-BE49-F238E27FC236}">
                <a16:creationId xmlns:a16="http://schemas.microsoft.com/office/drawing/2014/main" id="{FB36A6E4-48B5-E4D0-150D-8B0EA9B7B2B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932663" y="1220754"/>
            <a:ext cx="1278673" cy="1183356"/>
          </a:xfrm>
          <a:prstGeom prst="ellipse">
            <a:avLst/>
          </a:prstGeom>
          <a:ln/>
        </p:spPr>
        <p:style>
          <a:lnRef idx="1">
            <a:schemeClr val="dk1"/>
          </a:lnRef>
          <a:fillRef idx="2">
            <a:schemeClr val="dk1"/>
          </a:fillRef>
          <a:effectRef idx="1">
            <a:schemeClr val="dk1"/>
          </a:effectRef>
          <a:fontRef idx="minor">
            <a:schemeClr val="dk1"/>
          </a:fontRef>
        </p:style>
      </p:pic>
      <p:pic>
        <p:nvPicPr>
          <p:cNvPr id="9" name="Picture 8">
            <a:extLst>
              <a:ext uri="{FF2B5EF4-FFF2-40B4-BE49-F238E27FC236}">
                <a16:creationId xmlns:a16="http://schemas.microsoft.com/office/drawing/2014/main" id="{8D8634A7-F368-1E5B-2D3E-393934C667D3}"/>
              </a:ext>
            </a:extLst>
          </p:cNvPr>
          <p:cNvPicPr>
            <a:picLocks noChangeAspect="1"/>
          </p:cNvPicPr>
          <p:nvPr/>
        </p:nvPicPr>
        <p:blipFill>
          <a:blip r:embed="rId6"/>
          <a:stretch>
            <a:fillRect/>
          </a:stretch>
        </p:blipFill>
        <p:spPr>
          <a:xfrm>
            <a:off x="6878411" y="1205648"/>
            <a:ext cx="1158572" cy="1183356"/>
          </a:xfrm>
          <a:prstGeom prst="ellipse">
            <a:avLst/>
          </a:prstGeom>
          <a:ln/>
        </p:spPr>
        <p:style>
          <a:lnRef idx="1">
            <a:schemeClr val="dk1"/>
          </a:lnRef>
          <a:fillRef idx="2">
            <a:schemeClr val="dk1"/>
          </a:fillRef>
          <a:effectRef idx="1">
            <a:schemeClr val="dk1"/>
          </a:effectRef>
          <a:fontRef idx="minor">
            <a:schemeClr val="dk1"/>
          </a:fontRef>
        </p:style>
      </p:pic>
      <p:pic>
        <p:nvPicPr>
          <p:cNvPr id="11" name="Picture 10">
            <a:extLst>
              <a:ext uri="{FF2B5EF4-FFF2-40B4-BE49-F238E27FC236}">
                <a16:creationId xmlns:a16="http://schemas.microsoft.com/office/drawing/2014/main" id="{1175C8F2-F18A-A201-8D9A-F14AA10322AD}"/>
              </a:ext>
            </a:extLst>
          </p:cNvPr>
          <p:cNvPicPr>
            <a:picLocks noChangeAspect="1"/>
          </p:cNvPicPr>
          <p:nvPr/>
        </p:nvPicPr>
        <p:blipFill>
          <a:blip r:embed="rId7"/>
          <a:stretch>
            <a:fillRect/>
          </a:stretch>
        </p:blipFill>
        <p:spPr>
          <a:xfrm>
            <a:off x="1293647" y="1178209"/>
            <a:ext cx="1158572" cy="1183356"/>
          </a:xfrm>
          <a:prstGeom prst="ellipse">
            <a:avLst/>
          </a:prstGeom>
          <a:ln/>
        </p:spPr>
        <p:style>
          <a:lnRef idx="1">
            <a:schemeClr val="dk1"/>
          </a:lnRef>
          <a:fillRef idx="2">
            <a:schemeClr val="dk1"/>
          </a:fillRef>
          <a:effectRef idx="1">
            <a:schemeClr val="dk1"/>
          </a:effectRef>
          <a:fontRef idx="minor">
            <a:schemeClr val="dk1"/>
          </a:fontRef>
        </p:style>
      </p:pic>
      <p:pic>
        <p:nvPicPr>
          <p:cNvPr id="13" name="Picture 12">
            <a:extLst>
              <a:ext uri="{FF2B5EF4-FFF2-40B4-BE49-F238E27FC236}">
                <a16:creationId xmlns:a16="http://schemas.microsoft.com/office/drawing/2014/main" id="{C0D7C124-7282-916B-1C2B-B1104113E593}"/>
              </a:ext>
            </a:extLst>
          </p:cNvPr>
          <p:cNvPicPr>
            <a:picLocks noChangeAspect="1"/>
          </p:cNvPicPr>
          <p:nvPr/>
        </p:nvPicPr>
        <p:blipFill>
          <a:blip r:embed="rId8"/>
          <a:stretch>
            <a:fillRect/>
          </a:stretch>
        </p:blipFill>
        <p:spPr>
          <a:xfrm>
            <a:off x="2674931" y="3221046"/>
            <a:ext cx="1204544" cy="1106197"/>
          </a:xfrm>
          <a:prstGeom prst="ellipse">
            <a:avLst/>
          </a:prstGeom>
          <a:ln/>
        </p:spPr>
        <p:style>
          <a:lnRef idx="1">
            <a:schemeClr val="dk1"/>
          </a:lnRef>
          <a:fillRef idx="2">
            <a:schemeClr val="dk1"/>
          </a:fillRef>
          <a:effectRef idx="1">
            <a:schemeClr val="dk1"/>
          </a:effectRef>
          <a:fontRef idx="minor">
            <a:schemeClr val="dk1"/>
          </a:fontRef>
        </p:style>
      </p:pic>
      <p:sp>
        <p:nvSpPr>
          <p:cNvPr id="14" name="TextBox 13">
            <a:extLst>
              <a:ext uri="{FF2B5EF4-FFF2-40B4-BE49-F238E27FC236}">
                <a16:creationId xmlns:a16="http://schemas.microsoft.com/office/drawing/2014/main" id="{F9A2A266-4BDD-F76F-156C-A304BC6E0EBD}"/>
              </a:ext>
            </a:extLst>
          </p:cNvPr>
          <p:cNvSpPr txBox="1"/>
          <p:nvPr/>
        </p:nvSpPr>
        <p:spPr>
          <a:xfrm>
            <a:off x="1276897" y="2374982"/>
            <a:ext cx="1175322" cy="338554"/>
          </a:xfrm>
          <a:prstGeom prst="rect">
            <a:avLst/>
          </a:prstGeom>
          <a:noFill/>
        </p:spPr>
        <p:txBody>
          <a:bodyPr wrap="none" rtlCol="0">
            <a:spAutoFit/>
          </a:bodyPr>
          <a:lstStyle/>
          <a:p>
            <a:r>
              <a:rPr lang="en-IN" sz="1600" b="1" i="0" dirty="0">
                <a:solidFill>
                  <a:srgbClr val="666666"/>
                </a:solidFill>
                <a:effectLst/>
                <a:highlight>
                  <a:srgbClr val="FFFFFF"/>
                </a:highlight>
                <a:latin typeface="+mj-lt"/>
              </a:rPr>
              <a:t>Maneesha</a:t>
            </a:r>
            <a:endParaRPr lang="en-IN" dirty="0">
              <a:latin typeface="+mj-lt"/>
            </a:endParaRPr>
          </a:p>
        </p:txBody>
      </p:sp>
      <p:sp>
        <p:nvSpPr>
          <p:cNvPr id="15" name="TextBox 14">
            <a:extLst>
              <a:ext uri="{FF2B5EF4-FFF2-40B4-BE49-F238E27FC236}">
                <a16:creationId xmlns:a16="http://schemas.microsoft.com/office/drawing/2014/main" id="{2798EAF8-9BAA-3527-2B08-3C476989D17C}"/>
              </a:ext>
            </a:extLst>
          </p:cNvPr>
          <p:cNvSpPr txBox="1"/>
          <p:nvPr/>
        </p:nvSpPr>
        <p:spPr>
          <a:xfrm>
            <a:off x="4172741" y="2404110"/>
            <a:ext cx="985148" cy="338554"/>
          </a:xfrm>
          <a:prstGeom prst="rect">
            <a:avLst/>
          </a:prstGeom>
          <a:noFill/>
        </p:spPr>
        <p:txBody>
          <a:bodyPr wrap="square" rtlCol="0">
            <a:spAutoFit/>
          </a:bodyPr>
          <a:lstStyle/>
          <a:p>
            <a:r>
              <a:rPr lang="en-IN" sz="1600" b="1" i="0" dirty="0">
                <a:solidFill>
                  <a:srgbClr val="666666"/>
                </a:solidFill>
                <a:effectLst/>
                <a:highlight>
                  <a:srgbClr val="F9FAFB"/>
                </a:highlight>
                <a:latin typeface="+mj-lt"/>
              </a:rPr>
              <a:t>Nishant</a:t>
            </a:r>
            <a:endParaRPr lang="en-IN" dirty="0">
              <a:latin typeface="+mj-lt"/>
            </a:endParaRPr>
          </a:p>
        </p:txBody>
      </p:sp>
      <p:graphicFrame>
        <p:nvGraphicFramePr>
          <p:cNvPr id="17" name="Table 16">
            <a:extLst>
              <a:ext uri="{FF2B5EF4-FFF2-40B4-BE49-F238E27FC236}">
                <a16:creationId xmlns:a16="http://schemas.microsoft.com/office/drawing/2014/main" id="{0FCC6D3D-4448-8CC6-63CE-19A8E5AD474D}"/>
              </a:ext>
            </a:extLst>
          </p:cNvPr>
          <p:cNvGraphicFramePr>
            <a:graphicFrameLocks noGrp="1"/>
          </p:cNvGraphicFramePr>
          <p:nvPr>
            <p:extLst>
              <p:ext uri="{D42A27DB-BD31-4B8C-83A1-F6EECF244321}">
                <p14:modId xmlns:p14="http://schemas.microsoft.com/office/powerpoint/2010/main" val="694559390"/>
              </p:ext>
            </p:extLst>
          </p:nvPr>
        </p:nvGraphicFramePr>
        <p:xfrm>
          <a:off x="6878411" y="2419217"/>
          <a:ext cx="1553266" cy="335280"/>
        </p:xfrm>
        <a:graphic>
          <a:graphicData uri="http://schemas.openxmlformats.org/drawingml/2006/table">
            <a:tbl>
              <a:tblPr/>
              <a:tblGrid>
                <a:gridCol w="1553266">
                  <a:extLst>
                    <a:ext uri="{9D8B030D-6E8A-4147-A177-3AD203B41FA5}">
                      <a16:colId xmlns:a16="http://schemas.microsoft.com/office/drawing/2014/main" val="4053339291"/>
                    </a:ext>
                  </a:extLst>
                </a:gridCol>
              </a:tblGrid>
              <a:tr h="0">
                <a:tc>
                  <a:txBody>
                    <a:bodyPr/>
                    <a:lstStyle/>
                    <a:p>
                      <a:pPr algn="l"/>
                      <a:r>
                        <a:rPr lang="en-IN" sz="1600" b="1" u="none" dirty="0">
                          <a:solidFill>
                            <a:srgbClr val="666666"/>
                          </a:solidFill>
                          <a:effectLst/>
                          <a:latin typeface="+mj-lt"/>
                        </a:rPr>
                        <a:t>Punit verma    </a:t>
                      </a: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919103426"/>
                  </a:ext>
                </a:extLst>
              </a:tr>
            </a:tbl>
          </a:graphicData>
        </a:graphic>
      </p:graphicFrame>
      <p:sp>
        <p:nvSpPr>
          <p:cNvPr id="19" name="TextBox 18">
            <a:extLst>
              <a:ext uri="{FF2B5EF4-FFF2-40B4-BE49-F238E27FC236}">
                <a16:creationId xmlns:a16="http://schemas.microsoft.com/office/drawing/2014/main" id="{65250CFE-4415-4B31-9C16-B9259F0B6DFF}"/>
              </a:ext>
            </a:extLst>
          </p:cNvPr>
          <p:cNvSpPr txBox="1"/>
          <p:nvPr/>
        </p:nvSpPr>
        <p:spPr>
          <a:xfrm>
            <a:off x="2909213" y="4327243"/>
            <a:ext cx="735980" cy="338554"/>
          </a:xfrm>
          <a:prstGeom prst="rect">
            <a:avLst/>
          </a:prstGeom>
          <a:noFill/>
        </p:spPr>
        <p:txBody>
          <a:bodyPr wrap="square">
            <a:spAutoFit/>
          </a:bodyPr>
          <a:lstStyle/>
          <a:p>
            <a:r>
              <a:rPr lang="en-IN" sz="1600" b="1" i="0" dirty="0">
                <a:solidFill>
                  <a:srgbClr val="666666"/>
                </a:solidFill>
                <a:effectLst/>
                <a:highlight>
                  <a:srgbClr val="F9FAFB"/>
                </a:highlight>
                <a:latin typeface="+mj-lt"/>
              </a:rPr>
              <a:t>Sahil</a:t>
            </a:r>
            <a:endParaRPr lang="en-IN" dirty="0">
              <a:latin typeface="+mj-lt"/>
            </a:endParaRPr>
          </a:p>
        </p:txBody>
      </p:sp>
      <p:sp>
        <p:nvSpPr>
          <p:cNvPr id="21" name="TextBox 20">
            <a:extLst>
              <a:ext uri="{FF2B5EF4-FFF2-40B4-BE49-F238E27FC236}">
                <a16:creationId xmlns:a16="http://schemas.microsoft.com/office/drawing/2014/main" id="{00D2C853-49D2-4AB9-B81A-71BE1CE0586F}"/>
              </a:ext>
            </a:extLst>
          </p:cNvPr>
          <p:cNvSpPr txBox="1"/>
          <p:nvPr/>
        </p:nvSpPr>
        <p:spPr>
          <a:xfrm>
            <a:off x="5714983" y="4313418"/>
            <a:ext cx="955957" cy="338554"/>
          </a:xfrm>
          <a:prstGeom prst="rect">
            <a:avLst/>
          </a:prstGeom>
          <a:noFill/>
        </p:spPr>
        <p:txBody>
          <a:bodyPr wrap="square">
            <a:spAutoFit/>
          </a:bodyPr>
          <a:lstStyle/>
          <a:p>
            <a:r>
              <a:rPr lang="en-IN" sz="1600" b="1" i="0" dirty="0">
                <a:solidFill>
                  <a:srgbClr val="666666"/>
                </a:solidFill>
                <a:effectLst/>
                <a:highlight>
                  <a:srgbClr val="FFFFFF"/>
                </a:highlight>
                <a:latin typeface="+mj-lt"/>
              </a:rPr>
              <a:t>Seema</a:t>
            </a:r>
            <a:endParaRPr lang="en-IN"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
        <p:cNvGrpSpPr/>
        <p:nvPr/>
      </p:nvGrpSpPr>
      <p:grpSpPr>
        <a:xfrm>
          <a:off x="0" y="0"/>
          <a:ext cx="0" cy="0"/>
          <a:chOff x="0" y="0"/>
          <a:chExt cx="0" cy="0"/>
        </a:xfrm>
      </p:grpSpPr>
      <p:sp>
        <p:nvSpPr>
          <p:cNvPr id="70" name="Google Shape;70;p15"/>
          <p:cNvSpPr txBox="1"/>
          <p:nvPr/>
        </p:nvSpPr>
        <p:spPr>
          <a:xfrm>
            <a:off x="-1" y="273337"/>
            <a:ext cx="2817541" cy="4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u="sng" dirty="0">
                <a:solidFill>
                  <a:schemeClr val="dk1"/>
                </a:solidFill>
                <a:latin typeface="IBM Plex Sans Medium"/>
                <a:ea typeface="IBM Plex Sans Medium"/>
                <a:cs typeface="IBM Plex Sans Medium"/>
                <a:sym typeface="IBM Plex Sans Medium"/>
              </a:rPr>
              <a:t>Introduction</a:t>
            </a:r>
            <a:endParaRPr sz="2800" b="1" u="sng" dirty="0">
              <a:solidFill>
                <a:schemeClr val="dk1"/>
              </a:solidFill>
              <a:latin typeface="IBM Plex Sans Medium"/>
              <a:ea typeface="IBM Plex Sans Medium"/>
              <a:cs typeface="IBM Plex Sans Medium"/>
              <a:sym typeface="IBM Plex Sans Medium"/>
            </a:endParaRPr>
          </a:p>
        </p:txBody>
      </p:sp>
      <p:sp>
        <p:nvSpPr>
          <p:cNvPr id="71" name="Google Shape;71;p15"/>
          <p:cNvSpPr txBox="1"/>
          <p:nvPr/>
        </p:nvSpPr>
        <p:spPr>
          <a:xfrm>
            <a:off x="2556100" y="1921775"/>
            <a:ext cx="2952600" cy="15336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endParaRPr sz="1800" dirty="0">
              <a:solidFill>
                <a:schemeClr val="dk1"/>
              </a:solidFill>
            </a:endParaRPr>
          </a:p>
        </p:txBody>
      </p:sp>
      <p:sp>
        <p:nvSpPr>
          <p:cNvPr id="72" name="Google Shape;72;p15"/>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TextBox 1">
            <a:extLst>
              <a:ext uri="{FF2B5EF4-FFF2-40B4-BE49-F238E27FC236}">
                <a16:creationId xmlns:a16="http://schemas.microsoft.com/office/drawing/2014/main" id="{6F6AE8EA-877A-CCB2-FA46-5C4AAC81C88C}"/>
              </a:ext>
            </a:extLst>
          </p:cNvPr>
          <p:cNvSpPr txBox="1"/>
          <p:nvPr/>
        </p:nvSpPr>
        <p:spPr>
          <a:xfrm>
            <a:off x="1464526" y="1082677"/>
            <a:ext cx="6947396" cy="2308324"/>
          </a:xfrm>
          <a:prstGeom prst="rect">
            <a:avLst/>
          </a:prstGeom>
          <a:noFill/>
        </p:spPr>
        <p:txBody>
          <a:bodyPr wrap="square" rtlCol="0">
            <a:spAutoFit/>
          </a:bodyPr>
          <a:lstStyle/>
          <a:p>
            <a:r>
              <a:rPr lang="en-US" sz="1800" dirty="0"/>
              <a:t>Chronic diseases such as heart disease, diabetes, and kidney disease are major causes of mortality and morbidity globally.</a:t>
            </a:r>
          </a:p>
          <a:p>
            <a:endParaRPr lang="en-US" sz="1800" dirty="0"/>
          </a:p>
          <a:p>
            <a:r>
              <a:rPr lang="en-US" sz="1800" dirty="0"/>
              <a:t>Early detection and proactive management are crucial for mitigating the adverse health outcomes associated with these diseases. However, the complexity and variety of risk factors, coupled with the need for comprehensive and personalized care, make early diagnosis difficult</a:t>
            </a:r>
            <a:r>
              <a:rPr lang="en-US" dirty="0"/>
              <a:t>.</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
        <p:cNvGrpSpPr/>
        <p:nvPr/>
      </p:nvGrpSpPr>
      <p:grpSpPr>
        <a:xfrm>
          <a:off x="0" y="0"/>
          <a:ext cx="0" cy="0"/>
          <a:chOff x="0" y="0"/>
          <a:chExt cx="0" cy="0"/>
        </a:xfrm>
      </p:grpSpPr>
      <p:sp>
        <p:nvSpPr>
          <p:cNvPr id="70" name="Google Shape;70;p15"/>
          <p:cNvSpPr txBox="1"/>
          <p:nvPr/>
        </p:nvSpPr>
        <p:spPr>
          <a:xfrm>
            <a:off x="0" y="243600"/>
            <a:ext cx="2817541" cy="473700"/>
          </a:xfrm>
          <a:prstGeom prst="rect">
            <a:avLst/>
          </a:prstGeom>
          <a:noFill/>
          <a:ln>
            <a:noFill/>
          </a:ln>
        </p:spPr>
        <p:txBody>
          <a:bodyPr spcFirstLastPara="1" wrap="square" lIns="91425" tIns="91425" rIns="91425" bIns="91425" anchor="t" anchorCtr="0">
            <a:noAutofit/>
          </a:bodyPr>
          <a:lstStyle/>
          <a:p>
            <a:pPr marL="114300" lvl="0" algn="l" rtl="0">
              <a:spcBef>
                <a:spcPts val="0"/>
              </a:spcBef>
              <a:spcAft>
                <a:spcPts val="0"/>
              </a:spcAft>
              <a:buClr>
                <a:schemeClr val="dk1"/>
              </a:buClr>
              <a:buSzPts val="1800"/>
            </a:pPr>
            <a:r>
              <a:rPr lang="en-IN" sz="3600" b="1" u="sng" dirty="0">
                <a:solidFill>
                  <a:schemeClr val="dk1"/>
                </a:solidFill>
              </a:rPr>
              <a:t>Objective</a:t>
            </a:r>
          </a:p>
        </p:txBody>
      </p:sp>
      <p:sp>
        <p:nvSpPr>
          <p:cNvPr id="71" name="Google Shape;71;p15"/>
          <p:cNvSpPr txBox="1"/>
          <p:nvPr/>
        </p:nvSpPr>
        <p:spPr>
          <a:xfrm>
            <a:off x="2556100" y="1921775"/>
            <a:ext cx="2952600" cy="15336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endParaRPr sz="1800" dirty="0">
              <a:solidFill>
                <a:schemeClr val="dk1"/>
              </a:solidFill>
            </a:endParaRPr>
          </a:p>
        </p:txBody>
      </p:sp>
      <p:sp>
        <p:nvSpPr>
          <p:cNvPr id="72" name="Google Shape;72;p15"/>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TextBox 1">
            <a:extLst>
              <a:ext uri="{FF2B5EF4-FFF2-40B4-BE49-F238E27FC236}">
                <a16:creationId xmlns:a16="http://schemas.microsoft.com/office/drawing/2014/main" id="{6F6AE8EA-877A-CCB2-FA46-5C4AAC81C88C}"/>
              </a:ext>
            </a:extLst>
          </p:cNvPr>
          <p:cNvSpPr txBox="1"/>
          <p:nvPr/>
        </p:nvSpPr>
        <p:spPr>
          <a:xfrm>
            <a:off x="1464526" y="1082677"/>
            <a:ext cx="6947396" cy="3250121"/>
          </a:xfrm>
          <a:prstGeom prst="rect">
            <a:avLst/>
          </a:prstGeom>
          <a:noFill/>
        </p:spPr>
        <p:txBody>
          <a:bodyPr wrap="square" rtlCol="0">
            <a:spAutoFit/>
          </a:bodyPr>
          <a:lstStyle/>
          <a:p>
            <a:pPr algn="just">
              <a:lnSpc>
                <a:spcPct val="115000"/>
              </a:lnSpc>
            </a:pPr>
            <a:r>
              <a:rPr lang="en-IN" dirty="0">
                <a:effectLst/>
                <a:latin typeface="Arial" panose="020B0604020202020204" pitchFamily="34" charset="0"/>
                <a:ea typeface="Arial" panose="020B0604020202020204" pitchFamily="34" charset="0"/>
              </a:rPr>
              <a:t>The primary objective of this project is to Utilize machine learning algorithms to create a model that can predict the risk of multiple chronic diseases, including heart disease, diabetes, and kidney disease and. The specific objectives are:</a:t>
            </a:r>
          </a:p>
          <a:p>
            <a:pPr algn="just">
              <a:lnSpc>
                <a:spcPct val="115000"/>
              </a:lnSpc>
            </a:pPr>
            <a:r>
              <a:rPr lang="en-IN" dirty="0">
                <a:effectLst/>
                <a:latin typeface="Arial" panose="020B0604020202020204" pitchFamily="34" charset="0"/>
                <a:ea typeface="Arial" panose="020B0604020202020204" pitchFamily="34" charset="0"/>
              </a:rPr>
              <a:t> </a:t>
            </a:r>
          </a:p>
          <a:p>
            <a:pPr marL="342900" lvl="0" indent="-342900" algn="just">
              <a:lnSpc>
                <a:spcPct val="115000"/>
              </a:lnSpc>
              <a:buFont typeface="Arial" panose="020B0604020202020204" pitchFamily="34" charset="0"/>
              <a:buChar char="●"/>
            </a:pPr>
            <a:r>
              <a:rPr lang="en-IN" u="none" strike="noStrike" dirty="0">
                <a:effectLst/>
                <a:latin typeface="Arial" panose="020B0604020202020204" pitchFamily="34" charset="0"/>
                <a:ea typeface="Arial" panose="020B0604020202020204" pitchFamily="34" charset="0"/>
              </a:rPr>
              <a:t>To collect and analyze data of various chronic diseases from various sources.</a:t>
            </a:r>
          </a:p>
          <a:p>
            <a:pPr marL="342900" lvl="0" indent="-342900">
              <a:lnSpc>
                <a:spcPct val="115000"/>
              </a:lnSpc>
              <a:buFont typeface="Arial" panose="020B0604020202020204" pitchFamily="34" charset="0"/>
              <a:buChar char="●"/>
            </a:pPr>
            <a:r>
              <a:rPr lang="en-IN" u="none" strike="noStrike" dirty="0">
                <a:effectLst/>
                <a:latin typeface="Arial" panose="020B0604020202020204" pitchFamily="34" charset="0"/>
                <a:ea typeface="Arial" panose="020B0604020202020204" pitchFamily="34" charset="0"/>
              </a:rPr>
              <a:t>To develop a predictive model for multiple diseases using Python-based data analytics.</a:t>
            </a:r>
          </a:p>
          <a:p>
            <a:pPr marL="342900" lvl="0" indent="-342900">
              <a:lnSpc>
                <a:spcPct val="115000"/>
              </a:lnSpc>
              <a:buFont typeface="Arial" panose="020B0604020202020204" pitchFamily="34" charset="0"/>
              <a:buChar char="●"/>
            </a:pPr>
            <a:r>
              <a:rPr lang="en-IN" u="none" strike="noStrike" dirty="0">
                <a:effectLst/>
                <a:latin typeface="Arial" panose="020B0604020202020204" pitchFamily="34" charset="0"/>
                <a:ea typeface="Arial" panose="020B0604020202020204" pitchFamily="34" charset="0"/>
              </a:rPr>
              <a:t>To integrate various datasets for comprehensive analysis and prediction.</a:t>
            </a:r>
          </a:p>
          <a:p>
            <a:pPr marL="342900" lvl="0" indent="-342900">
              <a:lnSpc>
                <a:spcPct val="115000"/>
              </a:lnSpc>
              <a:buFont typeface="Arial" panose="020B0604020202020204" pitchFamily="34" charset="0"/>
              <a:buChar char="●"/>
            </a:pPr>
            <a:r>
              <a:rPr lang="en-IN" u="none" strike="noStrike" dirty="0">
                <a:effectLst/>
                <a:latin typeface="Arial" panose="020B0604020202020204" pitchFamily="34" charset="0"/>
                <a:ea typeface="Arial" panose="020B0604020202020204" pitchFamily="34" charset="0"/>
              </a:rPr>
              <a:t>To evaluate and validate the predictive model's performance and accuracy.</a:t>
            </a:r>
          </a:p>
          <a:p>
            <a:pPr marL="342900" lvl="0" indent="-342900">
              <a:lnSpc>
                <a:spcPct val="115000"/>
              </a:lnSpc>
              <a:buFont typeface="Arial" panose="020B0604020202020204" pitchFamily="34" charset="0"/>
              <a:buChar char="●"/>
            </a:pPr>
            <a:r>
              <a:rPr lang="en-IN" u="none" strike="noStrike" dirty="0">
                <a:effectLst/>
                <a:latin typeface="Arial" panose="020B0604020202020204" pitchFamily="34" charset="0"/>
                <a:ea typeface="Arial" panose="020B0604020202020204" pitchFamily="34" charset="0"/>
              </a:rPr>
              <a:t>To provide actionable insights for healthcare professionals to improve patient outcomes</a:t>
            </a:r>
          </a:p>
          <a:p>
            <a:pPr marL="342900" lvl="0" indent="-342900" algn="just">
              <a:lnSpc>
                <a:spcPct val="115000"/>
              </a:lnSpc>
              <a:buFont typeface="Arial" panose="020B0604020202020204" pitchFamily="34" charset="0"/>
              <a:buChar char="●"/>
            </a:pPr>
            <a:r>
              <a:rPr lang="en-IN" u="none" strike="noStrike" dirty="0">
                <a:effectLst/>
                <a:latin typeface="Arial" panose="020B0604020202020204" pitchFamily="34" charset="0"/>
                <a:ea typeface="Arial" panose="020B0604020202020204" pitchFamily="34" charset="0"/>
              </a:rPr>
              <a:t>To contribute SDG 3</a:t>
            </a:r>
          </a:p>
          <a:p>
            <a:endParaRPr lang="en-IN" sz="1100" dirty="0"/>
          </a:p>
        </p:txBody>
      </p:sp>
    </p:spTree>
    <p:extLst>
      <p:ext uri="{BB962C8B-B14F-4D97-AF65-F5344CB8AC3E}">
        <p14:creationId xmlns:p14="http://schemas.microsoft.com/office/powerpoint/2010/main" val="3979246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
        <p:cNvGrpSpPr/>
        <p:nvPr/>
      </p:nvGrpSpPr>
      <p:grpSpPr>
        <a:xfrm>
          <a:off x="0" y="0"/>
          <a:ext cx="0" cy="0"/>
          <a:chOff x="0" y="0"/>
          <a:chExt cx="0" cy="0"/>
        </a:xfrm>
      </p:grpSpPr>
      <p:sp>
        <p:nvSpPr>
          <p:cNvPr id="77" name="Google Shape;77;p16"/>
          <p:cNvSpPr txBox="1"/>
          <p:nvPr/>
        </p:nvSpPr>
        <p:spPr>
          <a:xfrm>
            <a:off x="208674" y="169000"/>
            <a:ext cx="3932145" cy="473700"/>
          </a:xfrm>
          <a:prstGeom prst="rect">
            <a:avLst/>
          </a:prstGeom>
          <a:noFill/>
          <a:ln>
            <a:noFill/>
          </a:ln>
        </p:spPr>
        <p:txBody>
          <a:bodyPr spcFirstLastPara="1" wrap="square" lIns="91425" tIns="91425" rIns="91425" bIns="91425" anchor="t" anchorCtr="0">
            <a:noAutofit/>
          </a:bodyPr>
          <a:lstStyle/>
          <a:p>
            <a:r>
              <a:rPr lang="en-IN" sz="2800" b="1" u="sng" dirty="0">
                <a:solidFill>
                  <a:schemeClr val="dk1"/>
                </a:solidFill>
              </a:rPr>
              <a:t>Problem Statement</a:t>
            </a:r>
          </a:p>
          <a:p>
            <a:pPr marL="0" lvl="0" indent="0" algn="l" rtl="0">
              <a:spcBef>
                <a:spcPts val="0"/>
              </a:spcBef>
              <a:spcAft>
                <a:spcPts val="0"/>
              </a:spcAft>
              <a:buNone/>
            </a:pPr>
            <a:endParaRPr sz="2800" dirty="0">
              <a:solidFill>
                <a:schemeClr val="dk1"/>
              </a:solidFill>
              <a:latin typeface="IBM Plex Sans Medium"/>
              <a:ea typeface="IBM Plex Sans Medium"/>
              <a:cs typeface="IBM Plex Sans Medium"/>
              <a:sym typeface="IBM Plex Sans Medium"/>
            </a:endParaRPr>
          </a:p>
        </p:txBody>
      </p:sp>
      <p:sp>
        <p:nvSpPr>
          <p:cNvPr id="78" name="Google Shape;78;p16"/>
          <p:cNvSpPr txBox="1"/>
          <p:nvPr/>
        </p:nvSpPr>
        <p:spPr>
          <a:xfrm>
            <a:off x="1628078" y="1141189"/>
            <a:ext cx="7404409" cy="3185484"/>
          </a:xfrm>
          <a:prstGeom prst="rect">
            <a:avLst/>
          </a:prstGeom>
          <a:noFill/>
          <a:ln>
            <a:noFill/>
          </a:ln>
        </p:spPr>
        <p:txBody>
          <a:bodyPr spcFirstLastPara="1" wrap="square" lIns="91425" tIns="91425" rIns="91425" bIns="91425" anchor="t" anchorCtr="0">
            <a:noAutofit/>
          </a:bodyPr>
          <a:lstStyle/>
          <a:p>
            <a:pPr marL="114300" lvl="0" algn="l" rtl="0">
              <a:spcBef>
                <a:spcPts val="0"/>
              </a:spcBef>
              <a:spcAft>
                <a:spcPts val="0"/>
              </a:spcAft>
              <a:buClr>
                <a:schemeClr val="dk1"/>
              </a:buClr>
              <a:buSzPts val="1800"/>
            </a:pPr>
            <a:r>
              <a:rPr lang="en-US" sz="2000" dirty="0">
                <a:solidFill>
                  <a:schemeClr val="dk1"/>
                </a:solidFill>
              </a:rPr>
              <a:t>The early detection of chronic diseases remains a significant challenge. Traditional diagnostic methods are often reactive, detecting diseases only after symptoms appear. This delay can lead to more severe health complications, increased healthcare costs, and higher mortality rates. To address this issue, there is a need for a robust predictive model that can accurately assess the risk of multiple chronic diseases based on a combination of health metrics and lifestyle factors.</a:t>
            </a:r>
            <a:endParaRPr sz="2000" dirty="0">
              <a:solidFill>
                <a:schemeClr val="dk1"/>
              </a:solidFill>
            </a:endParaRPr>
          </a:p>
        </p:txBody>
      </p:sp>
      <p:sp>
        <p:nvSpPr>
          <p:cNvPr id="79" name="Google Shape;79;p16"/>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
        <p:cNvGrpSpPr/>
        <p:nvPr/>
      </p:nvGrpSpPr>
      <p:grpSpPr>
        <a:xfrm>
          <a:off x="0" y="0"/>
          <a:ext cx="0" cy="0"/>
          <a:chOff x="0" y="0"/>
          <a:chExt cx="0" cy="0"/>
        </a:xfrm>
      </p:grpSpPr>
      <p:sp>
        <p:nvSpPr>
          <p:cNvPr id="77" name="Google Shape;77;p16"/>
          <p:cNvSpPr txBox="1"/>
          <p:nvPr/>
        </p:nvSpPr>
        <p:spPr>
          <a:xfrm>
            <a:off x="0" y="169001"/>
            <a:ext cx="3932145" cy="473700"/>
          </a:xfrm>
          <a:prstGeom prst="rect">
            <a:avLst/>
          </a:prstGeom>
          <a:noFill/>
          <a:ln>
            <a:noFill/>
          </a:ln>
        </p:spPr>
        <p:txBody>
          <a:bodyPr spcFirstLastPara="1" wrap="square" lIns="91425" tIns="91425" rIns="91425" bIns="91425" anchor="t" anchorCtr="0">
            <a:noAutofit/>
          </a:bodyPr>
          <a:lstStyle/>
          <a:p>
            <a:pPr marL="114300" lvl="0" algn="l" rtl="0">
              <a:spcBef>
                <a:spcPts val="0"/>
              </a:spcBef>
              <a:spcAft>
                <a:spcPts val="0"/>
              </a:spcAft>
              <a:buClr>
                <a:schemeClr val="dk1"/>
              </a:buClr>
              <a:buSzPts val="1800"/>
            </a:pPr>
            <a:r>
              <a:rPr lang="en-IN" sz="2400" u="sng" dirty="0">
                <a:solidFill>
                  <a:schemeClr val="dk1"/>
                </a:solidFill>
              </a:rPr>
              <a:t>Relevant SDGs</a:t>
            </a:r>
          </a:p>
          <a:p>
            <a:pPr marL="0" lvl="0" indent="0" algn="l" rtl="0">
              <a:spcBef>
                <a:spcPts val="0"/>
              </a:spcBef>
              <a:spcAft>
                <a:spcPts val="0"/>
              </a:spcAft>
              <a:buNone/>
            </a:pPr>
            <a:endParaRPr sz="2400" u="sng" dirty="0">
              <a:solidFill>
                <a:schemeClr val="dk1"/>
              </a:solidFill>
              <a:latin typeface="IBM Plex Sans Medium"/>
              <a:ea typeface="IBM Plex Sans Medium"/>
              <a:cs typeface="IBM Plex Sans Medium"/>
              <a:sym typeface="IBM Plex Sans Medium"/>
            </a:endParaRPr>
          </a:p>
        </p:txBody>
      </p:sp>
      <p:sp>
        <p:nvSpPr>
          <p:cNvPr id="78" name="Google Shape;78;p16"/>
          <p:cNvSpPr txBox="1"/>
          <p:nvPr/>
        </p:nvSpPr>
        <p:spPr>
          <a:xfrm>
            <a:off x="728546" y="642701"/>
            <a:ext cx="8318809" cy="754920"/>
          </a:xfrm>
          <a:prstGeom prst="rect">
            <a:avLst/>
          </a:prstGeom>
          <a:noFill/>
          <a:ln>
            <a:noFill/>
          </a:ln>
        </p:spPr>
        <p:txBody>
          <a:bodyPr spcFirstLastPara="1" wrap="square" lIns="91425" tIns="91425" rIns="91425" bIns="91425" anchor="t" anchorCtr="0">
            <a:noAutofit/>
          </a:bodyPr>
          <a:lstStyle/>
          <a:p>
            <a:pPr marL="114300" lvl="0" algn="l" rtl="0">
              <a:spcBef>
                <a:spcPts val="0"/>
              </a:spcBef>
              <a:spcAft>
                <a:spcPts val="0"/>
              </a:spcAft>
              <a:buClr>
                <a:schemeClr val="dk1"/>
              </a:buClr>
              <a:buSzPts val="1800"/>
            </a:pPr>
            <a:r>
              <a:rPr lang="en-US" sz="1600" dirty="0">
                <a:solidFill>
                  <a:schemeClr val="dk1"/>
                </a:solidFill>
              </a:rPr>
              <a:t>The United Nations Sustainable Development Goal 3 (SDG 3) aims to ensure healthy lives and promote well-being for all at all ages.</a:t>
            </a:r>
            <a:endParaRPr sz="1600" dirty="0">
              <a:solidFill>
                <a:schemeClr val="dk1"/>
              </a:solidFill>
            </a:endParaRPr>
          </a:p>
        </p:txBody>
      </p:sp>
      <p:sp>
        <p:nvSpPr>
          <p:cNvPr id="79" name="Google Shape;79;p16"/>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TextBox 1">
            <a:extLst>
              <a:ext uri="{FF2B5EF4-FFF2-40B4-BE49-F238E27FC236}">
                <a16:creationId xmlns:a16="http://schemas.microsoft.com/office/drawing/2014/main" id="{849C0033-1B41-DC30-25F1-3C03B75C52D3}"/>
              </a:ext>
            </a:extLst>
          </p:cNvPr>
          <p:cNvSpPr txBox="1"/>
          <p:nvPr/>
        </p:nvSpPr>
        <p:spPr>
          <a:xfrm>
            <a:off x="121486" y="1721307"/>
            <a:ext cx="4732386" cy="400110"/>
          </a:xfrm>
          <a:prstGeom prst="rect">
            <a:avLst/>
          </a:prstGeom>
          <a:noFill/>
        </p:spPr>
        <p:txBody>
          <a:bodyPr wrap="none" rtlCol="0">
            <a:spAutoFit/>
          </a:bodyPr>
          <a:lstStyle/>
          <a:p>
            <a:r>
              <a:rPr lang="en-IN" sz="2000" dirty="0"/>
              <a:t>Multiple Disease Prediction Contributes</a:t>
            </a:r>
            <a:r>
              <a:rPr lang="en-IN" sz="1800" dirty="0"/>
              <a:t>:</a:t>
            </a:r>
          </a:p>
        </p:txBody>
      </p:sp>
      <p:sp>
        <p:nvSpPr>
          <p:cNvPr id="3" name="TextBox 2">
            <a:extLst>
              <a:ext uri="{FF2B5EF4-FFF2-40B4-BE49-F238E27FC236}">
                <a16:creationId xmlns:a16="http://schemas.microsoft.com/office/drawing/2014/main" id="{DF39A875-81E5-188F-B662-E8F877B93F36}"/>
              </a:ext>
            </a:extLst>
          </p:cNvPr>
          <p:cNvSpPr txBox="1"/>
          <p:nvPr/>
        </p:nvSpPr>
        <p:spPr>
          <a:xfrm>
            <a:off x="981308" y="2277510"/>
            <a:ext cx="8162692"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t>Early Detection: ML models can predict the risk of chronic diseases like heart disease, diabetes, and kidney disease, facilitating early diagnosis and timely intervention.</a:t>
            </a:r>
          </a:p>
          <a:p>
            <a:pPr marL="285750" indent="-285750">
              <a:buFont typeface="Arial" panose="020B0604020202020204" pitchFamily="34" charset="0"/>
              <a:buChar char="•"/>
            </a:pPr>
            <a:r>
              <a:rPr lang="en-US" sz="1600" dirty="0"/>
              <a:t>Prevention: Identifying risk factors through predictive modeling can inform preventive strategies and lifestyle modifications to reduce disease incidence.</a:t>
            </a:r>
          </a:p>
          <a:p>
            <a:pPr marL="285750" indent="-285750">
              <a:buFont typeface="Arial" panose="020B0604020202020204" pitchFamily="34" charset="0"/>
              <a:buChar char="•"/>
            </a:pPr>
            <a:r>
              <a:rPr lang="en-US" sz="1600" dirty="0"/>
              <a:t>Personalized Medicine: Predictive models enable personalized treatment plans tailored to individual risk profiles, improving patient outcomes.</a:t>
            </a:r>
          </a:p>
          <a:p>
            <a:pPr marL="285750" indent="-285750">
              <a:buFont typeface="Arial" panose="020B0604020202020204" pitchFamily="34" charset="0"/>
              <a:buChar char="•"/>
            </a:pPr>
            <a:r>
              <a:rPr lang="en-US" sz="1600" dirty="0"/>
              <a:t>Healthcare Efficiency: Early detection and management reduce the burden on healthcare systems, lowering costs and improving resource allocation.</a:t>
            </a:r>
            <a:endParaRPr lang="en-IN" sz="1600" dirty="0"/>
          </a:p>
        </p:txBody>
      </p:sp>
    </p:spTree>
    <p:extLst>
      <p:ext uri="{BB962C8B-B14F-4D97-AF65-F5344CB8AC3E}">
        <p14:creationId xmlns:p14="http://schemas.microsoft.com/office/powerpoint/2010/main" val="3169847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p:nvPr/>
        </p:nvSpPr>
        <p:spPr>
          <a:xfrm>
            <a:off x="93925" y="176557"/>
            <a:ext cx="4344260" cy="4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400" b="1" u="sng" dirty="0">
                <a:solidFill>
                  <a:schemeClr val="dk1"/>
                </a:solidFill>
                <a:effectLst>
                  <a:outerShdw blurRad="38100" dist="38100" dir="2700000" algn="tl">
                    <a:srgbClr val="000000">
                      <a:alpha val="43137"/>
                    </a:srgbClr>
                  </a:outerShdw>
                </a:effectLst>
                <a:latin typeface="+mj-lt"/>
                <a:ea typeface="IBM Plex Sans Medium"/>
                <a:cs typeface="IBM Plex Sans Medium"/>
                <a:sym typeface="IBM Plex Sans Medium"/>
              </a:rPr>
              <a:t>Data Collection</a:t>
            </a:r>
          </a:p>
        </p:txBody>
      </p:sp>
      <p:sp>
        <p:nvSpPr>
          <p:cNvPr id="85" name="Google Shape;85;p17"/>
          <p:cNvSpPr txBox="1"/>
          <p:nvPr/>
        </p:nvSpPr>
        <p:spPr>
          <a:xfrm>
            <a:off x="1680117" y="935155"/>
            <a:ext cx="7233423" cy="1533600"/>
          </a:xfrm>
          <a:prstGeom prst="rect">
            <a:avLst/>
          </a:prstGeom>
          <a:noFill/>
          <a:ln>
            <a:noFill/>
          </a:ln>
        </p:spPr>
        <p:txBody>
          <a:bodyPr spcFirstLastPara="1" wrap="square" lIns="91425" tIns="91425" rIns="91425" bIns="91425" anchor="t" anchorCtr="0">
            <a:noAutofit/>
          </a:bodyPr>
          <a:lstStyle/>
          <a:p>
            <a:pPr marL="114300">
              <a:buClr>
                <a:schemeClr val="dk1"/>
              </a:buClr>
              <a:buSzPts val="1800"/>
            </a:pPr>
            <a:r>
              <a:rPr lang="en-US" sz="1800" b="0" i="0" u="none" strike="noStrike" cap="none" dirty="0">
                <a:solidFill>
                  <a:schemeClr val="tx1"/>
                </a:solidFill>
                <a:latin typeface="Arial"/>
                <a:ea typeface="Arial"/>
                <a:cs typeface="Arial"/>
                <a:sym typeface="Arial"/>
              </a:rPr>
              <a:t>The dataset used in this project is taken from Kaggle. There are several attributes in the data set on which we are  predicting, analyzing, visualizing of Multiple Chronic Disease</a:t>
            </a:r>
            <a:endParaRPr sz="1800" dirty="0">
              <a:solidFill>
                <a:schemeClr val="tx1"/>
              </a:solidFill>
            </a:endParaRPr>
          </a:p>
        </p:txBody>
      </p:sp>
      <p:sp>
        <p:nvSpPr>
          <p:cNvPr id="86" name="Google Shape;86;p17"/>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 name="TextBox 4">
            <a:extLst>
              <a:ext uri="{FF2B5EF4-FFF2-40B4-BE49-F238E27FC236}">
                <a16:creationId xmlns:a16="http://schemas.microsoft.com/office/drawing/2014/main" id="{B2D68034-DD6A-093C-377F-1AD0C5CEE953}"/>
              </a:ext>
            </a:extLst>
          </p:cNvPr>
          <p:cNvSpPr txBox="1"/>
          <p:nvPr/>
        </p:nvSpPr>
        <p:spPr>
          <a:xfrm>
            <a:off x="5260657" y="4074967"/>
            <a:ext cx="1245854" cy="523220"/>
          </a:xfrm>
          <a:prstGeom prst="rect">
            <a:avLst/>
          </a:prstGeom>
          <a:noFill/>
        </p:spPr>
        <p:txBody>
          <a:bodyPr wrap="none" rtlCol="0">
            <a:spAutoFit/>
          </a:bodyPr>
          <a:lstStyle/>
          <a:p>
            <a:r>
              <a:rPr lang="en-IN" sz="2800" dirty="0">
                <a:hlinkClick r:id="rId3"/>
              </a:rPr>
              <a:t>kaggle</a:t>
            </a:r>
            <a:endParaRPr lang="en-IN" sz="2800" dirty="0"/>
          </a:p>
        </p:txBody>
      </p:sp>
      <p:pic>
        <p:nvPicPr>
          <p:cNvPr id="7" name="Picture 6">
            <a:extLst>
              <a:ext uri="{FF2B5EF4-FFF2-40B4-BE49-F238E27FC236}">
                <a16:creationId xmlns:a16="http://schemas.microsoft.com/office/drawing/2014/main" id="{C2512EF9-CC66-A628-D597-E52BF6DABE07}"/>
              </a:ext>
            </a:extLst>
          </p:cNvPr>
          <p:cNvPicPr>
            <a:picLocks noChangeAspect="1"/>
          </p:cNvPicPr>
          <p:nvPr/>
        </p:nvPicPr>
        <p:blipFill>
          <a:blip r:embed="rId4"/>
          <a:stretch>
            <a:fillRect/>
          </a:stretch>
        </p:blipFill>
        <p:spPr>
          <a:xfrm>
            <a:off x="93925" y="2110501"/>
            <a:ext cx="5166732" cy="24876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p:nvPr/>
        </p:nvSpPr>
        <p:spPr>
          <a:xfrm>
            <a:off x="93925" y="176557"/>
            <a:ext cx="4344260" cy="4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lang="en-IN" sz="2400" b="1" u="sng" dirty="0">
              <a:solidFill>
                <a:schemeClr val="dk1"/>
              </a:solidFill>
              <a:effectLst>
                <a:outerShdw blurRad="38100" dist="38100" dir="2700000" algn="tl">
                  <a:srgbClr val="000000">
                    <a:alpha val="43137"/>
                  </a:srgbClr>
                </a:outerShdw>
              </a:effectLst>
              <a:latin typeface="+mj-lt"/>
              <a:ea typeface="IBM Plex Sans Medium"/>
              <a:cs typeface="IBM Plex Sans Medium"/>
              <a:sym typeface="IBM Plex Sans Medium"/>
            </a:endParaRPr>
          </a:p>
        </p:txBody>
      </p:sp>
      <p:sp>
        <p:nvSpPr>
          <p:cNvPr id="85" name="Google Shape;85;p17"/>
          <p:cNvSpPr txBox="1"/>
          <p:nvPr/>
        </p:nvSpPr>
        <p:spPr>
          <a:xfrm>
            <a:off x="1680117" y="935155"/>
            <a:ext cx="7233423" cy="1533600"/>
          </a:xfrm>
          <a:prstGeom prst="rect">
            <a:avLst/>
          </a:prstGeom>
          <a:noFill/>
          <a:ln>
            <a:noFill/>
          </a:ln>
        </p:spPr>
        <p:txBody>
          <a:bodyPr spcFirstLastPara="1" wrap="square" lIns="91425" tIns="91425" rIns="91425" bIns="91425" anchor="t" anchorCtr="0">
            <a:noAutofit/>
          </a:bodyPr>
          <a:lstStyle/>
          <a:p>
            <a:pPr marL="114300">
              <a:buClr>
                <a:schemeClr val="dk1"/>
              </a:buClr>
              <a:buSzPts val="1800"/>
            </a:pPr>
            <a:endParaRPr sz="1800" dirty="0">
              <a:solidFill>
                <a:schemeClr val="tx1"/>
              </a:solidFill>
            </a:endParaRPr>
          </a:p>
        </p:txBody>
      </p:sp>
      <p:sp>
        <p:nvSpPr>
          <p:cNvPr id="86" name="Google Shape;86;p17"/>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Google Shape;84;p17">
            <a:extLst>
              <a:ext uri="{FF2B5EF4-FFF2-40B4-BE49-F238E27FC236}">
                <a16:creationId xmlns:a16="http://schemas.microsoft.com/office/drawing/2014/main" id="{B28C9D2D-0B59-BF0D-945C-9C1C730831BB}"/>
              </a:ext>
            </a:extLst>
          </p:cNvPr>
          <p:cNvSpPr txBox="1"/>
          <p:nvPr/>
        </p:nvSpPr>
        <p:spPr>
          <a:xfrm>
            <a:off x="0" y="63836"/>
            <a:ext cx="4344260" cy="4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u="sng" dirty="0">
                <a:effectLst>
                  <a:outerShdw blurRad="38100" dist="38100" dir="2700000" algn="tl">
                    <a:srgbClr val="000000">
                      <a:alpha val="43137"/>
                    </a:srgbClr>
                  </a:outerShdw>
                </a:effectLst>
                <a:sym typeface="Arial"/>
              </a:rPr>
              <a:t>SOURCES OF DATA USED  </a:t>
            </a:r>
            <a:endParaRPr sz="2400" b="1" u="sng" dirty="0">
              <a:solidFill>
                <a:schemeClr val="dk1"/>
              </a:solidFill>
              <a:effectLst>
                <a:outerShdw blurRad="38100" dist="38100" dir="2700000" algn="tl">
                  <a:srgbClr val="000000">
                    <a:alpha val="43137"/>
                  </a:srgbClr>
                </a:outerShdw>
              </a:effectLst>
              <a:latin typeface="IBM Plex Sans Medium"/>
              <a:ea typeface="IBM Plex Sans Medium"/>
              <a:cs typeface="IBM Plex Sans Medium"/>
              <a:sym typeface="IBM Plex Sans Medium"/>
            </a:endParaRPr>
          </a:p>
        </p:txBody>
      </p:sp>
      <p:sp>
        <p:nvSpPr>
          <p:cNvPr id="3" name="TextBox 2">
            <a:extLst>
              <a:ext uri="{FF2B5EF4-FFF2-40B4-BE49-F238E27FC236}">
                <a16:creationId xmlns:a16="http://schemas.microsoft.com/office/drawing/2014/main" id="{91FE6165-84BD-003B-A85F-FEBA03C200A9}"/>
              </a:ext>
            </a:extLst>
          </p:cNvPr>
          <p:cNvSpPr txBox="1"/>
          <p:nvPr/>
        </p:nvSpPr>
        <p:spPr>
          <a:xfrm>
            <a:off x="230460" y="714365"/>
            <a:ext cx="2271776" cy="338554"/>
          </a:xfrm>
          <a:prstGeom prst="rect">
            <a:avLst/>
          </a:prstGeom>
          <a:noFill/>
        </p:spPr>
        <p:txBody>
          <a:bodyPr wrap="none" rtlCol="0">
            <a:spAutoFit/>
          </a:bodyPr>
          <a:lstStyle/>
          <a:p>
            <a:r>
              <a:rPr lang="en-US" sz="1600" b="1" dirty="0">
                <a:latin typeface="+mj-lt"/>
              </a:rPr>
              <a:t>Disease 1: </a:t>
            </a:r>
            <a:r>
              <a:rPr lang="en-IN" sz="1600" b="1" i="0" dirty="0">
                <a:solidFill>
                  <a:srgbClr val="3C4043"/>
                </a:solidFill>
                <a:effectLst/>
                <a:highlight>
                  <a:srgbClr val="FFFFFF"/>
                </a:highlight>
                <a:latin typeface="+mj-lt"/>
              </a:rPr>
              <a:t>Alzheimer</a:t>
            </a:r>
            <a:endParaRPr lang="en-IN" sz="1600" b="1" dirty="0">
              <a:latin typeface="+mj-lt"/>
            </a:endParaRPr>
          </a:p>
        </p:txBody>
      </p:sp>
      <p:sp>
        <p:nvSpPr>
          <p:cNvPr id="4" name="TextBox 3">
            <a:extLst>
              <a:ext uri="{FF2B5EF4-FFF2-40B4-BE49-F238E27FC236}">
                <a16:creationId xmlns:a16="http://schemas.microsoft.com/office/drawing/2014/main" id="{E27D1E23-C646-9C15-9B74-6D1E020FF6EF}"/>
              </a:ext>
            </a:extLst>
          </p:cNvPr>
          <p:cNvSpPr txBox="1"/>
          <p:nvPr/>
        </p:nvSpPr>
        <p:spPr>
          <a:xfrm>
            <a:off x="2362521" y="1080475"/>
            <a:ext cx="6551019" cy="1600438"/>
          </a:xfrm>
          <a:prstGeom prst="rect">
            <a:avLst/>
          </a:prstGeom>
          <a:noFill/>
        </p:spPr>
        <p:txBody>
          <a:bodyPr wrap="square" rtlCol="0">
            <a:spAutoFit/>
          </a:bodyPr>
          <a:lstStyle/>
          <a:p>
            <a:r>
              <a:rPr lang="en-US" b="0" i="0" dirty="0">
                <a:solidFill>
                  <a:srgbClr val="3C4043"/>
                </a:solidFill>
                <a:effectLst/>
                <a:highlight>
                  <a:srgbClr val="FFFFFF"/>
                </a:highlight>
                <a:latin typeface="Inter"/>
              </a:rPr>
              <a:t>This dataset contains extensive health information for 2,149 patients and offers extensive insights into the factors associated with Alzheimer's Disease, including demographic, lifestyle, medical, cognitive, and functional variables. It is ideal for developing predictive models, conducting statistical analyses, and exploring the complex interplay of factors contributing to Alzheimer's Disease</a:t>
            </a:r>
          </a:p>
          <a:p>
            <a:endParaRPr lang="en-US" dirty="0">
              <a:solidFill>
                <a:srgbClr val="3C4043"/>
              </a:solidFill>
              <a:highlight>
                <a:srgbClr val="FFFFFF"/>
              </a:highlight>
              <a:latin typeface="Inter"/>
            </a:endParaRPr>
          </a:p>
          <a:p>
            <a:r>
              <a:rPr lang="en-US" dirty="0">
                <a:solidFill>
                  <a:srgbClr val="3C4043"/>
                </a:solidFill>
                <a:highlight>
                  <a:srgbClr val="FFFFFF"/>
                </a:highlight>
                <a:latin typeface="Inter"/>
              </a:rPr>
              <a:t>Link: </a:t>
            </a:r>
            <a:r>
              <a:rPr lang="en-US" dirty="0">
                <a:solidFill>
                  <a:schemeClr val="accent1"/>
                </a:solidFill>
                <a:highlight>
                  <a:srgbClr val="FFFFFF"/>
                </a:highlight>
                <a:latin typeface="Inter"/>
                <a:hlinkClick r:id="rId3"/>
              </a:rPr>
              <a:t>https://www.kaggle.com/datasets/rabieelkharoua/alzheimers-disease-dataset</a:t>
            </a:r>
            <a:endParaRPr lang="en-IN" dirty="0">
              <a:solidFill>
                <a:schemeClr val="accent1"/>
              </a:solidFill>
            </a:endParaRPr>
          </a:p>
        </p:txBody>
      </p:sp>
      <p:sp>
        <p:nvSpPr>
          <p:cNvPr id="5" name="TextBox 4">
            <a:extLst>
              <a:ext uri="{FF2B5EF4-FFF2-40B4-BE49-F238E27FC236}">
                <a16:creationId xmlns:a16="http://schemas.microsoft.com/office/drawing/2014/main" id="{F1B64D6B-D696-58C2-E8C6-1A5D4E340BFF}"/>
              </a:ext>
            </a:extLst>
          </p:cNvPr>
          <p:cNvSpPr txBox="1"/>
          <p:nvPr/>
        </p:nvSpPr>
        <p:spPr>
          <a:xfrm>
            <a:off x="230460" y="2946044"/>
            <a:ext cx="2008883" cy="338554"/>
          </a:xfrm>
          <a:prstGeom prst="rect">
            <a:avLst/>
          </a:prstGeom>
          <a:noFill/>
        </p:spPr>
        <p:txBody>
          <a:bodyPr wrap="none" rtlCol="0">
            <a:spAutoFit/>
          </a:bodyPr>
          <a:lstStyle/>
          <a:p>
            <a:r>
              <a:rPr lang="en-US" sz="1600" b="1" dirty="0">
                <a:latin typeface="+mj-lt"/>
              </a:rPr>
              <a:t>Disease 2: </a:t>
            </a:r>
            <a:r>
              <a:rPr lang="en-IN" sz="1600" b="1" i="0" dirty="0">
                <a:solidFill>
                  <a:srgbClr val="202124"/>
                </a:solidFill>
                <a:effectLst/>
                <a:highlight>
                  <a:srgbClr val="FFFFFF"/>
                </a:highlight>
                <a:latin typeface="+mj-lt"/>
              </a:rPr>
              <a:t>Asthma</a:t>
            </a:r>
            <a:endParaRPr lang="en-IN" sz="2000" b="1" i="0" dirty="0">
              <a:solidFill>
                <a:srgbClr val="202124"/>
              </a:solidFill>
              <a:effectLst/>
              <a:highlight>
                <a:srgbClr val="FFFFFF"/>
              </a:highlight>
              <a:latin typeface="+mj-lt"/>
            </a:endParaRPr>
          </a:p>
        </p:txBody>
      </p:sp>
      <p:sp>
        <p:nvSpPr>
          <p:cNvPr id="6" name="TextBox 5">
            <a:extLst>
              <a:ext uri="{FF2B5EF4-FFF2-40B4-BE49-F238E27FC236}">
                <a16:creationId xmlns:a16="http://schemas.microsoft.com/office/drawing/2014/main" id="{D6915D21-7FA1-1D00-971E-693400BF5623}"/>
              </a:ext>
            </a:extLst>
          </p:cNvPr>
          <p:cNvSpPr txBox="1"/>
          <p:nvPr/>
        </p:nvSpPr>
        <p:spPr>
          <a:xfrm>
            <a:off x="2362521" y="3203464"/>
            <a:ext cx="6692270" cy="1600438"/>
          </a:xfrm>
          <a:prstGeom prst="rect">
            <a:avLst/>
          </a:prstGeom>
          <a:noFill/>
        </p:spPr>
        <p:txBody>
          <a:bodyPr wrap="square" rtlCol="0">
            <a:spAutoFit/>
          </a:bodyPr>
          <a:lstStyle/>
          <a:p>
            <a:r>
              <a:rPr lang="en-US" b="0" i="0" dirty="0">
                <a:solidFill>
                  <a:srgbClr val="3C4043"/>
                </a:solidFill>
                <a:effectLst/>
                <a:highlight>
                  <a:srgbClr val="FFFFFF"/>
                </a:highlight>
                <a:latin typeface="Inter"/>
              </a:rPr>
              <a:t>This dataset contains extensive health information for 2,392 patients diagnosed with Asthma Disease and offers extensive insights into the factors associated with Asthma Disease, including demographic, lifestyle, environmental, allergy, medical, clinical, and symptom variables. It is ideal for developing predictive models, conducting statistical analyses, and exploring the complex interplay of factors contributing to Asthma Disease.</a:t>
            </a:r>
          </a:p>
          <a:p>
            <a:endParaRPr lang="en-US" dirty="0">
              <a:solidFill>
                <a:srgbClr val="3C4043"/>
              </a:solidFill>
              <a:highlight>
                <a:srgbClr val="FFFFFF"/>
              </a:highlight>
              <a:latin typeface="Inter"/>
            </a:endParaRPr>
          </a:p>
          <a:p>
            <a:r>
              <a:rPr lang="en-US" dirty="0">
                <a:solidFill>
                  <a:srgbClr val="3C4043"/>
                </a:solidFill>
                <a:highlight>
                  <a:srgbClr val="FFFFFF"/>
                </a:highlight>
                <a:latin typeface="Inter"/>
              </a:rPr>
              <a:t>Link: </a:t>
            </a:r>
            <a:r>
              <a:rPr lang="en-US" dirty="0">
                <a:solidFill>
                  <a:srgbClr val="3C4043"/>
                </a:solidFill>
                <a:highlight>
                  <a:srgbClr val="FFFFFF"/>
                </a:highlight>
                <a:latin typeface="Inter"/>
                <a:hlinkClick r:id="rId4"/>
              </a:rPr>
              <a:t>https://www.kaggle.com/datasets/rabieelkharoua/asthma-disease-dataset</a:t>
            </a:r>
            <a:endParaRPr lang="en-IN" dirty="0"/>
          </a:p>
        </p:txBody>
      </p:sp>
      <p:pic>
        <p:nvPicPr>
          <p:cNvPr id="7" name="Picture 6">
            <a:extLst>
              <a:ext uri="{FF2B5EF4-FFF2-40B4-BE49-F238E27FC236}">
                <a16:creationId xmlns:a16="http://schemas.microsoft.com/office/drawing/2014/main" id="{33FEA635-BE6E-8BA7-F0EC-F72E2AD72E1E}"/>
              </a:ext>
            </a:extLst>
          </p:cNvPr>
          <p:cNvPicPr>
            <a:picLocks noChangeAspect="1"/>
          </p:cNvPicPr>
          <p:nvPr/>
        </p:nvPicPr>
        <p:blipFill>
          <a:blip r:embed="rId5"/>
          <a:stretch>
            <a:fillRect/>
          </a:stretch>
        </p:blipFill>
        <p:spPr>
          <a:xfrm>
            <a:off x="327102" y="3373397"/>
            <a:ext cx="1912241" cy="1258076"/>
          </a:xfrm>
          <a:prstGeom prst="rect">
            <a:avLst/>
          </a:prstGeom>
        </p:spPr>
      </p:pic>
      <p:pic>
        <p:nvPicPr>
          <p:cNvPr id="8" name="Picture 7">
            <a:extLst>
              <a:ext uri="{FF2B5EF4-FFF2-40B4-BE49-F238E27FC236}">
                <a16:creationId xmlns:a16="http://schemas.microsoft.com/office/drawing/2014/main" id="{5659FFA5-D363-95A9-4B12-EC77BFE6B973}"/>
              </a:ext>
            </a:extLst>
          </p:cNvPr>
          <p:cNvPicPr>
            <a:picLocks noChangeAspect="1"/>
          </p:cNvPicPr>
          <p:nvPr/>
        </p:nvPicPr>
        <p:blipFill>
          <a:blip r:embed="rId6"/>
          <a:stretch>
            <a:fillRect/>
          </a:stretch>
        </p:blipFill>
        <p:spPr>
          <a:xfrm>
            <a:off x="327102" y="1060216"/>
            <a:ext cx="2000373" cy="1370445"/>
          </a:xfrm>
          <a:prstGeom prst="rect">
            <a:avLst/>
          </a:prstGeom>
        </p:spPr>
      </p:pic>
    </p:spTree>
    <p:extLst>
      <p:ext uri="{BB962C8B-B14F-4D97-AF65-F5344CB8AC3E}">
        <p14:creationId xmlns:p14="http://schemas.microsoft.com/office/powerpoint/2010/main" val="1053702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p:nvPr/>
        </p:nvSpPr>
        <p:spPr>
          <a:xfrm>
            <a:off x="93925" y="176557"/>
            <a:ext cx="4344260" cy="4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lang="en-IN" sz="2400" b="1" u="sng" dirty="0">
              <a:solidFill>
                <a:schemeClr val="dk1"/>
              </a:solidFill>
              <a:effectLst>
                <a:outerShdw blurRad="38100" dist="38100" dir="2700000" algn="tl">
                  <a:srgbClr val="000000">
                    <a:alpha val="43137"/>
                  </a:srgbClr>
                </a:outerShdw>
              </a:effectLst>
              <a:latin typeface="+mj-lt"/>
              <a:ea typeface="IBM Plex Sans Medium"/>
              <a:cs typeface="IBM Plex Sans Medium"/>
              <a:sym typeface="IBM Plex Sans Medium"/>
            </a:endParaRPr>
          </a:p>
        </p:txBody>
      </p:sp>
      <p:sp>
        <p:nvSpPr>
          <p:cNvPr id="86" name="Google Shape;86;p17"/>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Google Shape;84;p17">
            <a:extLst>
              <a:ext uri="{FF2B5EF4-FFF2-40B4-BE49-F238E27FC236}">
                <a16:creationId xmlns:a16="http://schemas.microsoft.com/office/drawing/2014/main" id="{B28C9D2D-0B59-BF0D-945C-9C1C730831BB}"/>
              </a:ext>
            </a:extLst>
          </p:cNvPr>
          <p:cNvSpPr txBox="1"/>
          <p:nvPr/>
        </p:nvSpPr>
        <p:spPr>
          <a:xfrm>
            <a:off x="0" y="63836"/>
            <a:ext cx="4344260" cy="4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400" b="1" u="sng" dirty="0">
              <a:solidFill>
                <a:schemeClr val="dk1"/>
              </a:solidFill>
              <a:effectLst>
                <a:outerShdw blurRad="38100" dist="38100" dir="2700000" algn="tl">
                  <a:srgbClr val="000000">
                    <a:alpha val="43137"/>
                  </a:srgbClr>
                </a:outerShdw>
              </a:effectLst>
              <a:latin typeface="IBM Plex Sans Medium"/>
              <a:ea typeface="IBM Plex Sans Medium"/>
              <a:cs typeface="IBM Plex Sans Medium"/>
              <a:sym typeface="IBM Plex Sans Medium"/>
            </a:endParaRPr>
          </a:p>
        </p:txBody>
      </p:sp>
      <p:sp>
        <p:nvSpPr>
          <p:cNvPr id="3" name="TextBox 2">
            <a:extLst>
              <a:ext uri="{FF2B5EF4-FFF2-40B4-BE49-F238E27FC236}">
                <a16:creationId xmlns:a16="http://schemas.microsoft.com/office/drawing/2014/main" id="{91FE6165-84BD-003B-A85F-FEBA03C200A9}"/>
              </a:ext>
            </a:extLst>
          </p:cNvPr>
          <p:cNvSpPr txBox="1"/>
          <p:nvPr/>
        </p:nvSpPr>
        <p:spPr>
          <a:xfrm>
            <a:off x="99013" y="188680"/>
            <a:ext cx="2488070" cy="338554"/>
          </a:xfrm>
          <a:prstGeom prst="rect">
            <a:avLst/>
          </a:prstGeom>
          <a:noFill/>
        </p:spPr>
        <p:txBody>
          <a:bodyPr wrap="square" rtlCol="0">
            <a:spAutoFit/>
          </a:bodyPr>
          <a:lstStyle/>
          <a:p>
            <a:r>
              <a:rPr lang="en-US" sz="1600" b="1" dirty="0">
                <a:latin typeface="+mj-lt"/>
              </a:rPr>
              <a:t>Disease 3: </a:t>
            </a:r>
            <a:r>
              <a:rPr lang="en-IN" sz="1600" b="1" i="0" dirty="0">
                <a:solidFill>
                  <a:srgbClr val="202124"/>
                </a:solidFill>
                <a:effectLst/>
                <a:highlight>
                  <a:srgbClr val="FFFFFF"/>
                </a:highlight>
                <a:latin typeface="+mj-lt"/>
              </a:rPr>
              <a:t>Diabetes</a:t>
            </a:r>
            <a:endParaRPr lang="en-IN" sz="1600" b="1" dirty="0">
              <a:latin typeface="+mj-lt"/>
            </a:endParaRPr>
          </a:p>
        </p:txBody>
      </p:sp>
      <p:sp>
        <p:nvSpPr>
          <p:cNvPr id="4" name="TextBox 3">
            <a:extLst>
              <a:ext uri="{FF2B5EF4-FFF2-40B4-BE49-F238E27FC236}">
                <a16:creationId xmlns:a16="http://schemas.microsoft.com/office/drawing/2014/main" id="{E27D1E23-C646-9C15-9B74-6D1E020FF6EF}"/>
              </a:ext>
            </a:extLst>
          </p:cNvPr>
          <p:cNvSpPr txBox="1"/>
          <p:nvPr/>
        </p:nvSpPr>
        <p:spPr>
          <a:xfrm>
            <a:off x="2172130" y="457866"/>
            <a:ext cx="6551019" cy="1169551"/>
          </a:xfrm>
          <a:prstGeom prst="rect">
            <a:avLst/>
          </a:prstGeom>
          <a:noFill/>
        </p:spPr>
        <p:txBody>
          <a:bodyPr wrap="square" rtlCol="0">
            <a:spAutoFit/>
          </a:bodyPr>
          <a:lstStyle/>
          <a:p>
            <a:r>
              <a:rPr lang="en-US" b="0" i="0" dirty="0">
                <a:solidFill>
                  <a:srgbClr val="3C4043"/>
                </a:solidFill>
                <a:effectLst/>
                <a:highlight>
                  <a:srgbClr val="FFFFFF"/>
                </a:highlight>
                <a:latin typeface="Inter"/>
              </a:rPr>
              <a:t>this dataset provides a rich landscape for in-depth analysis and exploration. Investigate patterns, correlations, and predictive models to enhance our understanding of diabetes risk factors, disease progression, and treatment outcomes</a:t>
            </a:r>
          </a:p>
          <a:p>
            <a:endParaRPr lang="en-US" dirty="0">
              <a:solidFill>
                <a:srgbClr val="3C4043"/>
              </a:solidFill>
              <a:highlight>
                <a:srgbClr val="FFFFFF"/>
              </a:highlight>
              <a:latin typeface="Inter"/>
            </a:endParaRPr>
          </a:p>
          <a:p>
            <a:r>
              <a:rPr lang="en-US" dirty="0">
                <a:solidFill>
                  <a:srgbClr val="3C4043"/>
                </a:solidFill>
                <a:highlight>
                  <a:srgbClr val="FFFFFF"/>
                </a:highlight>
                <a:latin typeface="Inter"/>
              </a:rPr>
              <a:t>Link: </a:t>
            </a:r>
            <a:r>
              <a:rPr lang="en-US" dirty="0">
                <a:solidFill>
                  <a:schemeClr val="accent1"/>
                </a:solidFill>
                <a:highlight>
                  <a:srgbClr val="FFFFFF"/>
                </a:highlight>
                <a:latin typeface="Inter"/>
                <a:hlinkClick r:id="rId3"/>
              </a:rPr>
              <a:t>https://www.kaggle.com/datasets/zain280/diabeties-dataset</a:t>
            </a:r>
            <a:endParaRPr lang="en-IN" dirty="0">
              <a:solidFill>
                <a:schemeClr val="accent1"/>
              </a:solidFill>
            </a:endParaRPr>
          </a:p>
        </p:txBody>
      </p:sp>
      <p:sp>
        <p:nvSpPr>
          <p:cNvPr id="5" name="TextBox 4">
            <a:extLst>
              <a:ext uri="{FF2B5EF4-FFF2-40B4-BE49-F238E27FC236}">
                <a16:creationId xmlns:a16="http://schemas.microsoft.com/office/drawing/2014/main" id="{F1B64D6B-D696-58C2-E8C6-1A5D4E340BFF}"/>
              </a:ext>
            </a:extLst>
          </p:cNvPr>
          <p:cNvSpPr txBox="1"/>
          <p:nvPr/>
        </p:nvSpPr>
        <p:spPr>
          <a:xfrm>
            <a:off x="230459" y="1988936"/>
            <a:ext cx="1781257" cy="584775"/>
          </a:xfrm>
          <a:prstGeom prst="rect">
            <a:avLst/>
          </a:prstGeom>
          <a:noFill/>
        </p:spPr>
        <p:txBody>
          <a:bodyPr wrap="none" rtlCol="0">
            <a:spAutoFit/>
          </a:bodyPr>
          <a:lstStyle/>
          <a:p>
            <a:endParaRPr lang="en-US" sz="1600" b="1" dirty="0">
              <a:latin typeface="+mj-lt"/>
            </a:endParaRPr>
          </a:p>
          <a:p>
            <a:r>
              <a:rPr lang="en-US" sz="1600" b="1" dirty="0">
                <a:latin typeface="+mj-lt"/>
              </a:rPr>
              <a:t>Disease 4: </a:t>
            </a:r>
            <a:r>
              <a:rPr lang="en-IN" sz="1600" b="1" dirty="0">
                <a:solidFill>
                  <a:srgbClr val="202124"/>
                </a:solidFill>
                <a:highlight>
                  <a:srgbClr val="FFFFFF"/>
                </a:highlight>
                <a:latin typeface="+mj-lt"/>
              </a:rPr>
              <a:t>Heart</a:t>
            </a:r>
            <a:endParaRPr lang="en-IN" sz="2000" b="1" i="0" dirty="0">
              <a:solidFill>
                <a:srgbClr val="202124"/>
              </a:solidFill>
              <a:effectLst/>
              <a:highlight>
                <a:srgbClr val="FFFFFF"/>
              </a:highlight>
              <a:latin typeface="+mj-lt"/>
            </a:endParaRPr>
          </a:p>
        </p:txBody>
      </p:sp>
      <p:sp>
        <p:nvSpPr>
          <p:cNvPr id="6" name="TextBox 5">
            <a:extLst>
              <a:ext uri="{FF2B5EF4-FFF2-40B4-BE49-F238E27FC236}">
                <a16:creationId xmlns:a16="http://schemas.microsoft.com/office/drawing/2014/main" id="{D6915D21-7FA1-1D00-971E-693400BF5623}"/>
              </a:ext>
            </a:extLst>
          </p:cNvPr>
          <p:cNvSpPr txBox="1"/>
          <p:nvPr/>
        </p:nvSpPr>
        <p:spPr>
          <a:xfrm>
            <a:off x="2135111" y="2459579"/>
            <a:ext cx="6692270" cy="1600438"/>
          </a:xfrm>
          <a:prstGeom prst="rect">
            <a:avLst/>
          </a:prstGeom>
          <a:noFill/>
        </p:spPr>
        <p:txBody>
          <a:bodyPr wrap="square" rtlCol="0">
            <a:spAutoFit/>
          </a:bodyPr>
          <a:lstStyle/>
          <a:p>
            <a:r>
              <a:rPr lang="en-US" b="0" i="0" dirty="0">
                <a:solidFill>
                  <a:srgbClr val="3C4043"/>
                </a:solidFill>
                <a:effectLst/>
                <a:highlight>
                  <a:srgbClr val="FFFFFF"/>
                </a:highlight>
                <a:latin typeface="Inter"/>
              </a:rPr>
              <a:t>This dataset consists of 1190 instances. This heart disease dataset is curated by combining 5 popular heart disease datasets already available independently but not combined before. In this dataset, 5 heart datasets are combined over 11 common features which makes it the largest heart disease dataset available so far for research purposes</a:t>
            </a:r>
          </a:p>
          <a:p>
            <a:endParaRPr lang="en-US" dirty="0">
              <a:solidFill>
                <a:srgbClr val="3C4043"/>
              </a:solidFill>
              <a:highlight>
                <a:srgbClr val="FFFFFF"/>
              </a:highlight>
              <a:latin typeface="Inter"/>
            </a:endParaRPr>
          </a:p>
          <a:p>
            <a:r>
              <a:rPr lang="en-US" dirty="0">
                <a:solidFill>
                  <a:srgbClr val="3C4043"/>
                </a:solidFill>
                <a:highlight>
                  <a:srgbClr val="FFFFFF"/>
                </a:highlight>
                <a:latin typeface="Inter"/>
              </a:rPr>
              <a:t>Link: </a:t>
            </a:r>
            <a:r>
              <a:rPr lang="en-US" dirty="0">
                <a:solidFill>
                  <a:srgbClr val="3C4043"/>
                </a:solidFill>
                <a:highlight>
                  <a:srgbClr val="FFFFFF"/>
                </a:highlight>
                <a:latin typeface="Inter"/>
                <a:hlinkClick r:id="rId4"/>
              </a:rPr>
              <a:t>https://www.kaggle.com/datasets/mexwell/heart-disease-dataset</a:t>
            </a:r>
            <a:endParaRPr lang="en-IN" dirty="0"/>
          </a:p>
        </p:txBody>
      </p:sp>
      <p:pic>
        <p:nvPicPr>
          <p:cNvPr id="7" name="Picture 6">
            <a:extLst>
              <a:ext uri="{FF2B5EF4-FFF2-40B4-BE49-F238E27FC236}">
                <a16:creationId xmlns:a16="http://schemas.microsoft.com/office/drawing/2014/main" id="{3045B1FD-3664-5CEB-E4AF-9533DA21D1FF}"/>
              </a:ext>
            </a:extLst>
          </p:cNvPr>
          <p:cNvPicPr>
            <a:picLocks noChangeAspect="1"/>
          </p:cNvPicPr>
          <p:nvPr/>
        </p:nvPicPr>
        <p:blipFill>
          <a:blip r:embed="rId5"/>
          <a:stretch>
            <a:fillRect/>
          </a:stretch>
        </p:blipFill>
        <p:spPr>
          <a:xfrm>
            <a:off x="316619" y="2603317"/>
            <a:ext cx="1781257" cy="1456700"/>
          </a:xfrm>
          <a:prstGeom prst="rect">
            <a:avLst/>
          </a:prstGeom>
        </p:spPr>
      </p:pic>
      <p:pic>
        <p:nvPicPr>
          <p:cNvPr id="8" name="Picture 7">
            <a:extLst>
              <a:ext uri="{FF2B5EF4-FFF2-40B4-BE49-F238E27FC236}">
                <a16:creationId xmlns:a16="http://schemas.microsoft.com/office/drawing/2014/main" id="{4A917805-C1F8-F749-2482-165897243A79}"/>
              </a:ext>
            </a:extLst>
          </p:cNvPr>
          <p:cNvPicPr>
            <a:picLocks noChangeAspect="1"/>
          </p:cNvPicPr>
          <p:nvPr/>
        </p:nvPicPr>
        <p:blipFill>
          <a:blip r:embed="rId6"/>
          <a:stretch>
            <a:fillRect/>
          </a:stretch>
        </p:blipFill>
        <p:spPr>
          <a:xfrm>
            <a:off x="212804" y="606663"/>
            <a:ext cx="1922308" cy="1079972"/>
          </a:xfrm>
          <a:prstGeom prst="rect">
            <a:avLst/>
          </a:prstGeom>
        </p:spPr>
      </p:pic>
    </p:spTree>
    <p:extLst>
      <p:ext uri="{BB962C8B-B14F-4D97-AF65-F5344CB8AC3E}">
        <p14:creationId xmlns:p14="http://schemas.microsoft.com/office/powerpoint/2010/main" val="3874121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p:nvPr/>
        </p:nvSpPr>
        <p:spPr>
          <a:xfrm>
            <a:off x="93925" y="176557"/>
            <a:ext cx="4344260" cy="4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lang="en-IN" sz="2400" b="1" u="sng" dirty="0">
              <a:solidFill>
                <a:schemeClr val="dk1"/>
              </a:solidFill>
              <a:effectLst>
                <a:outerShdw blurRad="38100" dist="38100" dir="2700000" algn="tl">
                  <a:srgbClr val="000000">
                    <a:alpha val="43137"/>
                  </a:srgbClr>
                </a:outerShdw>
              </a:effectLst>
              <a:latin typeface="+mj-lt"/>
              <a:ea typeface="IBM Plex Sans Medium"/>
              <a:cs typeface="IBM Plex Sans Medium"/>
              <a:sym typeface="IBM Plex Sans Medium"/>
            </a:endParaRPr>
          </a:p>
        </p:txBody>
      </p:sp>
      <p:sp>
        <p:nvSpPr>
          <p:cNvPr id="86" name="Google Shape;86;p17"/>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Google Shape;84;p17">
            <a:extLst>
              <a:ext uri="{FF2B5EF4-FFF2-40B4-BE49-F238E27FC236}">
                <a16:creationId xmlns:a16="http://schemas.microsoft.com/office/drawing/2014/main" id="{B28C9D2D-0B59-BF0D-945C-9C1C730831BB}"/>
              </a:ext>
            </a:extLst>
          </p:cNvPr>
          <p:cNvSpPr txBox="1"/>
          <p:nvPr/>
        </p:nvSpPr>
        <p:spPr>
          <a:xfrm>
            <a:off x="0" y="63836"/>
            <a:ext cx="4344260" cy="4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400" b="1" u="sng" dirty="0">
              <a:solidFill>
                <a:schemeClr val="dk1"/>
              </a:solidFill>
              <a:effectLst>
                <a:outerShdw blurRad="38100" dist="38100" dir="2700000" algn="tl">
                  <a:srgbClr val="000000">
                    <a:alpha val="43137"/>
                  </a:srgbClr>
                </a:outerShdw>
              </a:effectLst>
              <a:latin typeface="IBM Plex Sans Medium"/>
              <a:ea typeface="IBM Plex Sans Medium"/>
              <a:cs typeface="IBM Plex Sans Medium"/>
              <a:sym typeface="IBM Plex Sans Medium"/>
            </a:endParaRPr>
          </a:p>
        </p:txBody>
      </p:sp>
      <p:sp>
        <p:nvSpPr>
          <p:cNvPr id="3" name="TextBox 2">
            <a:extLst>
              <a:ext uri="{FF2B5EF4-FFF2-40B4-BE49-F238E27FC236}">
                <a16:creationId xmlns:a16="http://schemas.microsoft.com/office/drawing/2014/main" id="{91FE6165-84BD-003B-A85F-FEBA03C200A9}"/>
              </a:ext>
            </a:extLst>
          </p:cNvPr>
          <p:cNvSpPr txBox="1"/>
          <p:nvPr/>
        </p:nvSpPr>
        <p:spPr>
          <a:xfrm>
            <a:off x="93924" y="198982"/>
            <a:ext cx="4705817" cy="400110"/>
          </a:xfrm>
          <a:prstGeom prst="rect">
            <a:avLst/>
          </a:prstGeom>
          <a:noFill/>
        </p:spPr>
        <p:txBody>
          <a:bodyPr wrap="square" rtlCol="0">
            <a:spAutoFit/>
          </a:bodyPr>
          <a:lstStyle/>
          <a:p>
            <a:pPr algn="l" fontAlgn="base"/>
            <a:r>
              <a:rPr lang="en-US" sz="1600" b="1" dirty="0">
                <a:latin typeface="+mj-lt"/>
              </a:rPr>
              <a:t>Disease 5: </a:t>
            </a:r>
            <a:r>
              <a:rPr lang="en-US" sz="1600" b="1" i="0" dirty="0">
                <a:solidFill>
                  <a:srgbClr val="202124"/>
                </a:solidFill>
                <a:effectLst/>
                <a:highlight>
                  <a:srgbClr val="FFFFFF"/>
                </a:highlight>
                <a:latin typeface="+mj-lt"/>
              </a:rPr>
              <a:t>Chronic</a:t>
            </a:r>
            <a:r>
              <a:rPr lang="en-US" sz="2000" b="1" i="0" dirty="0">
                <a:solidFill>
                  <a:srgbClr val="202124"/>
                </a:solidFill>
                <a:effectLst/>
                <a:highlight>
                  <a:srgbClr val="FFFFFF"/>
                </a:highlight>
                <a:latin typeface="+mj-lt"/>
              </a:rPr>
              <a:t> </a:t>
            </a:r>
            <a:r>
              <a:rPr lang="en-US" sz="1600" b="1" i="0" dirty="0">
                <a:solidFill>
                  <a:srgbClr val="202124"/>
                </a:solidFill>
                <a:effectLst/>
                <a:highlight>
                  <a:srgbClr val="FFFFFF"/>
                </a:highlight>
                <a:latin typeface="+mj-lt"/>
              </a:rPr>
              <a:t>Kidney</a:t>
            </a:r>
            <a:endParaRPr lang="en-US" sz="2000" b="1" i="0" dirty="0">
              <a:solidFill>
                <a:srgbClr val="202124"/>
              </a:solidFill>
              <a:effectLst/>
              <a:highlight>
                <a:srgbClr val="FFFFFF"/>
              </a:highlight>
              <a:latin typeface="+mj-lt"/>
            </a:endParaRPr>
          </a:p>
        </p:txBody>
      </p:sp>
      <p:sp>
        <p:nvSpPr>
          <p:cNvPr id="4" name="TextBox 3">
            <a:extLst>
              <a:ext uri="{FF2B5EF4-FFF2-40B4-BE49-F238E27FC236}">
                <a16:creationId xmlns:a16="http://schemas.microsoft.com/office/drawing/2014/main" id="{E27D1E23-C646-9C15-9B74-6D1E020FF6EF}"/>
              </a:ext>
            </a:extLst>
          </p:cNvPr>
          <p:cNvSpPr txBox="1"/>
          <p:nvPr/>
        </p:nvSpPr>
        <p:spPr>
          <a:xfrm>
            <a:off x="2205736" y="648847"/>
            <a:ext cx="6551019" cy="1600438"/>
          </a:xfrm>
          <a:prstGeom prst="rect">
            <a:avLst/>
          </a:prstGeom>
          <a:noFill/>
        </p:spPr>
        <p:txBody>
          <a:bodyPr wrap="square" rtlCol="0">
            <a:spAutoFit/>
          </a:bodyPr>
          <a:lstStyle/>
          <a:p>
            <a:r>
              <a:rPr lang="en-IN" b="0" i="0" dirty="0">
                <a:solidFill>
                  <a:srgbClr val="3C4043"/>
                </a:solidFill>
                <a:effectLst/>
                <a:highlight>
                  <a:srgbClr val="FFFFFF"/>
                </a:highlight>
                <a:latin typeface="Inter"/>
              </a:rPr>
              <a:t>This dataset contains detailed health information for 1,659 patients diagnosed with Chronic Kidney Disease (CKD). The dataset includes demographic details, lifestyle factors, medical history, clinical measurements, medication usage, symptoms, quality of life scores, environmental exposures, and health </a:t>
            </a:r>
            <a:r>
              <a:rPr lang="en-IN" b="0" i="0" dirty="0" err="1">
                <a:solidFill>
                  <a:srgbClr val="3C4043"/>
                </a:solidFill>
                <a:effectLst/>
                <a:highlight>
                  <a:srgbClr val="FFFFFF"/>
                </a:highlight>
                <a:latin typeface="Inter"/>
              </a:rPr>
              <a:t>behaviors</a:t>
            </a:r>
            <a:endParaRPr lang="en-IN" b="0" i="0" dirty="0">
              <a:solidFill>
                <a:srgbClr val="3C4043"/>
              </a:solidFill>
              <a:effectLst/>
              <a:highlight>
                <a:srgbClr val="FFFFFF"/>
              </a:highlight>
              <a:latin typeface="Inter"/>
            </a:endParaRPr>
          </a:p>
          <a:p>
            <a:endParaRPr lang="en-US" dirty="0">
              <a:solidFill>
                <a:srgbClr val="3C4043"/>
              </a:solidFill>
              <a:highlight>
                <a:srgbClr val="FFFFFF"/>
              </a:highlight>
              <a:latin typeface="Inter"/>
            </a:endParaRPr>
          </a:p>
          <a:p>
            <a:r>
              <a:rPr lang="en-US" dirty="0">
                <a:solidFill>
                  <a:srgbClr val="3C4043"/>
                </a:solidFill>
                <a:highlight>
                  <a:srgbClr val="FFFFFF"/>
                </a:highlight>
                <a:latin typeface="Inter"/>
              </a:rPr>
              <a:t>Link: </a:t>
            </a:r>
            <a:r>
              <a:rPr lang="en-US" dirty="0">
                <a:solidFill>
                  <a:schemeClr val="accent1"/>
                </a:solidFill>
                <a:highlight>
                  <a:srgbClr val="FFFFFF"/>
                </a:highlight>
                <a:latin typeface="Inter"/>
                <a:hlinkClick r:id="rId3"/>
              </a:rPr>
              <a:t>https://www.kaggle.com/datasets/rabieelkharoua/chronic-kidney-disease-dataset-analysis</a:t>
            </a:r>
            <a:endParaRPr lang="en-IN" dirty="0">
              <a:solidFill>
                <a:schemeClr val="accent1"/>
              </a:solidFill>
            </a:endParaRPr>
          </a:p>
        </p:txBody>
      </p:sp>
      <p:sp>
        <p:nvSpPr>
          <p:cNvPr id="5" name="TextBox 4">
            <a:extLst>
              <a:ext uri="{FF2B5EF4-FFF2-40B4-BE49-F238E27FC236}">
                <a16:creationId xmlns:a16="http://schemas.microsoft.com/office/drawing/2014/main" id="{F1B64D6B-D696-58C2-E8C6-1A5D4E340BFF}"/>
              </a:ext>
            </a:extLst>
          </p:cNvPr>
          <p:cNvSpPr txBox="1"/>
          <p:nvPr/>
        </p:nvSpPr>
        <p:spPr>
          <a:xfrm>
            <a:off x="93924" y="2387786"/>
            <a:ext cx="1747594" cy="338554"/>
          </a:xfrm>
          <a:prstGeom prst="rect">
            <a:avLst/>
          </a:prstGeom>
          <a:noFill/>
        </p:spPr>
        <p:txBody>
          <a:bodyPr wrap="none" rtlCol="0">
            <a:spAutoFit/>
          </a:bodyPr>
          <a:lstStyle/>
          <a:p>
            <a:r>
              <a:rPr lang="en-US" sz="1600" b="1" dirty="0">
                <a:latin typeface="+mj-lt"/>
              </a:rPr>
              <a:t>Disease 6: </a:t>
            </a:r>
            <a:r>
              <a:rPr lang="en-IN" sz="1600" b="1" i="0" dirty="0">
                <a:solidFill>
                  <a:srgbClr val="202124"/>
                </a:solidFill>
                <a:effectLst/>
                <a:highlight>
                  <a:srgbClr val="FFFFFF"/>
                </a:highlight>
                <a:latin typeface="+mj-lt"/>
              </a:rPr>
              <a:t>Liver</a:t>
            </a:r>
            <a:endParaRPr lang="en-IN" sz="2000" b="1" i="0" dirty="0">
              <a:solidFill>
                <a:srgbClr val="202124"/>
              </a:solidFill>
              <a:effectLst/>
              <a:highlight>
                <a:srgbClr val="FFFFFF"/>
              </a:highlight>
              <a:latin typeface="+mj-lt"/>
            </a:endParaRPr>
          </a:p>
        </p:txBody>
      </p:sp>
      <p:sp>
        <p:nvSpPr>
          <p:cNvPr id="6" name="TextBox 5">
            <a:extLst>
              <a:ext uri="{FF2B5EF4-FFF2-40B4-BE49-F238E27FC236}">
                <a16:creationId xmlns:a16="http://schemas.microsoft.com/office/drawing/2014/main" id="{D6915D21-7FA1-1D00-971E-693400BF5623}"/>
              </a:ext>
            </a:extLst>
          </p:cNvPr>
          <p:cNvSpPr txBox="1"/>
          <p:nvPr/>
        </p:nvSpPr>
        <p:spPr>
          <a:xfrm>
            <a:off x="2135110" y="2726340"/>
            <a:ext cx="6692270" cy="1600438"/>
          </a:xfrm>
          <a:prstGeom prst="rect">
            <a:avLst/>
          </a:prstGeom>
          <a:noFill/>
        </p:spPr>
        <p:txBody>
          <a:bodyPr wrap="square" rtlCol="0">
            <a:spAutoFit/>
          </a:bodyPr>
          <a:lstStyle/>
          <a:p>
            <a:r>
              <a:rPr lang="en-US" b="0" i="0" dirty="0">
                <a:solidFill>
                  <a:srgbClr val="3C4043"/>
                </a:solidFill>
                <a:effectLst/>
                <a:highlight>
                  <a:srgbClr val="FFFFFF"/>
                </a:highlight>
                <a:latin typeface="Inter"/>
              </a:rPr>
              <a:t>This dataset has been preprocessed and cleaned to ensure that users can focus on the most critical aspects of their analysis. The preprocessing steps were designed to eliminate noise and irrelevant information, allowing you to concentrate on developing and fine-tuning your predictive models.</a:t>
            </a:r>
          </a:p>
          <a:p>
            <a:endParaRPr lang="en-US" dirty="0">
              <a:solidFill>
                <a:srgbClr val="3C4043"/>
              </a:solidFill>
              <a:highlight>
                <a:srgbClr val="FFFFFF"/>
              </a:highlight>
              <a:latin typeface="Inter"/>
            </a:endParaRPr>
          </a:p>
          <a:p>
            <a:r>
              <a:rPr lang="en-US" dirty="0">
                <a:solidFill>
                  <a:srgbClr val="3C4043"/>
                </a:solidFill>
                <a:highlight>
                  <a:srgbClr val="FFFFFF"/>
                </a:highlight>
                <a:latin typeface="Inter"/>
              </a:rPr>
              <a:t>Link: </a:t>
            </a:r>
            <a:r>
              <a:rPr lang="en-US" dirty="0">
                <a:solidFill>
                  <a:srgbClr val="3C4043"/>
                </a:solidFill>
                <a:highlight>
                  <a:srgbClr val="FFFFFF"/>
                </a:highlight>
                <a:latin typeface="Inter"/>
                <a:hlinkClick r:id="rId4"/>
              </a:rPr>
              <a:t>https://www.kaggle.com/datasets/rabieelkharoua/predict-liver-disease-1700-records-dataset</a:t>
            </a:r>
            <a:endParaRPr lang="en-IN" dirty="0"/>
          </a:p>
        </p:txBody>
      </p:sp>
      <p:pic>
        <p:nvPicPr>
          <p:cNvPr id="7" name="Picture 6">
            <a:extLst>
              <a:ext uri="{FF2B5EF4-FFF2-40B4-BE49-F238E27FC236}">
                <a16:creationId xmlns:a16="http://schemas.microsoft.com/office/drawing/2014/main" id="{9FC07FB7-3E9D-6C48-EC56-A0A936BFA7C6}"/>
              </a:ext>
            </a:extLst>
          </p:cNvPr>
          <p:cNvPicPr>
            <a:picLocks noChangeAspect="1"/>
          </p:cNvPicPr>
          <p:nvPr/>
        </p:nvPicPr>
        <p:blipFill>
          <a:blip r:embed="rId5"/>
          <a:stretch>
            <a:fillRect/>
          </a:stretch>
        </p:blipFill>
        <p:spPr>
          <a:xfrm>
            <a:off x="93925" y="2849453"/>
            <a:ext cx="2041186" cy="1475916"/>
          </a:xfrm>
          <a:prstGeom prst="rect">
            <a:avLst/>
          </a:prstGeom>
        </p:spPr>
      </p:pic>
      <p:pic>
        <p:nvPicPr>
          <p:cNvPr id="8" name="Picture 7">
            <a:extLst>
              <a:ext uri="{FF2B5EF4-FFF2-40B4-BE49-F238E27FC236}">
                <a16:creationId xmlns:a16="http://schemas.microsoft.com/office/drawing/2014/main" id="{03489DAD-68DC-42FE-B1AA-83FC328F01CB}"/>
              </a:ext>
            </a:extLst>
          </p:cNvPr>
          <p:cNvPicPr>
            <a:picLocks noChangeAspect="1"/>
          </p:cNvPicPr>
          <p:nvPr/>
        </p:nvPicPr>
        <p:blipFill>
          <a:blip r:embed="rId6"/>
          <a:stretch>
            <a:fillRect/>
          </a:stretch>
        </p:blipFill>
        <p:spPr>
          <a:xfrm>
            <a:off x="188749" y="664811"/>
            <a:ext cx="2016987" cy="1178857"/>
          </a:xfrm>
          <a:prstGeom prst="rect">
            <a:avLst/>
          </a:prstGeom>
        </p:spPr>
      </p:pic>
    </p:spTree>
    <p:extLst>
      <p:ext uri="{BB962C8B-B14F-4D97-AF65-F5344CB8AC3E}">
        <p14:creationId xmlns:p14="http://schemas.microsoft.com/office/powerpoint/2010/main" val="1425606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p:nvPr/>
        </p:nvSpPr>
        <p:spPr>
          <a:xfrm>
            <a:off x="0" y="116850"/>
            <a:ext cx="9144000" cy="473700"/>
          </a:xfrm>
          <a:prstGeom prst="rect">
            <a:avLst/>
          </a:prstGeom>
          <a:noFill/>
          <a:ln>
            <a:noFill/>
          </a:ln>
        </p:spPr>
        <p:txBody>
          <a:bodyPr spcFirstLastPara="1" wrap="square" lIns="91425" tIns="91425" rIns="91425" bIns="91425" anchor="t" anchorCtr="0">
            <a:noAutofit/>
          </a:bodyPr>
          <a:lstStyle/>
          <a:p>
            <a:pPr algn="ctr"/>
            <a:r>
              <a:rPr lang="en" sz="2400" b="1" u="sng" dirty="0">
                <a:solidFill>
                  <a:schemeClr val="dk1"/>
                </a:solidFill>
                <a:effectLst>
                  <a:outerShdw blurRad="38100" dist="38100" dir="2700000" algn="tl">
                    <a:srgbClr val="000000">
                      <a:alpha val="43137"/>
                    </a:srgbClr>
                  </a:outerShdw>
                </a:effectLst>
                <a:latin typeface="IBM Plex Sans Medium"/>
                <a:ea typeface="IBM Plex Sans Medium"/>
                <a:cs typeface="IBM Plex Sans Medium"/>
                <a:sym typeface="IBM Plex Sans Medium"/>
              </a:rPr>
              <a:t>Data Analysis and </a:t>
            </a:r>
            <a:r>
              <a:rPr lang="en-IN" sz="2400" b="1" u="sng" dirty="0">
                <a:solidFill>
                  <a:schemeClr val="dk1"/>
                </a:solidFill>
                <a:effectLst>
                  <a:outerShdw blurRad="38100" dist="38100" dir="2700000" algn="tl">
                    <a:srgbClr val="000000">
                      <a:alpha val="43137"/>
                    </a:srgbClr>
                  </a:outerShdw>
                </a:effectLst>
                <a:latin typeface="IBM Plex Sans Medium"/>
                <a:ea typeface="IBM Plex Sans Medium"/>
                <a:cs typeface="IBM Plex Sans Medium"/>
                <a:sym typeface="IBM Plex Sans Medium"/>
              </a:rPr>
              <a:t>Visualization</a:t>
            </a:r>
          </a:p>
        </p:txBody>
      </p:sp>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TextBox 1">
            <a:extLst>
              <a:ext uri="{FF2B5EF4-FFF2-40B4-BE49-F238E27FC236}">
                <a16:creationId xmlns:a16="http://schemas.microsoft.com/office/drawing/2014/main" id="{4AC743DA-3CD2-C1BB-AC36-4173379B44A8}"/>
              </a:ext>
            </a:extLst>
          </p:cNvPr>
          <p:cNvSpPr txBox="1"/>
          <p:nvPr/>
        </p:nvSpPr>
        <p:spPr>
          <a:xfrm>
            <a:off x="0" y="877229"/>
            <a:ext cx="5620449" cy="307777"/>
          </a:xfrm>
          <a:prstGeom prst="rect">
            <a:avLst/>
          </a:prstGeom>
          <a:noFill/>
        </p:spPr>
        <p:txBody>
          <a:bodyPr wrap="none" rtlCol="0">
            <a:spAutoFit/>
          </a:bodyPr>
          <a:lstStyle/>
          <a:p>
            <a:r>
              <a:rPr lang="en-US" sz="1400" b="0" i="0" u="sng" strike="noStrike" cap="none" dirty="0">
                <a:solidFill>
                  <a:srgbClr val="000000"/>
                </a:solidFill>
                <a:latin typeface="Arial"/>
                <a:ea typeface="Arial"/>
                <a:cs typeface="Arial"/>
                <a:sym typeface="Arial"/>
              </a:rPr>
              <a:t>Exploratory Data Analysis (EDA) from data sets which we have used</a:t>
            </a:r>
            <a:endParaRPr lang="en-IN" u="sng" dirty="0"/>
          </a:p>
        </p:txBody>
      </p:sp>
      <p:pic>
        <p:nvPicPr>
          <p:cNvPr id="4" name="Picture 3">
            <a:extLst>
              <a:ext uri="{FF2B5EF4-FFF2-40B4-BE49-F238E27FC236}">
                <a16:creationId xmlns:a16="http://schemas.microsoft.com/office/drawing/2014/main" id="{28A68B76-A8F0-44EB-64E5-780A282ED473}"/>
              </a:ext>
            </a:extLst>
          </p:cNvPr>
          <p:cNvPicPr>
            <a:picLocks noChangeAspect="1"/>
          </p:cNvPicPr>
          <p:nvPr/>
        </p:nvPicPr>
        <p:blipFill>
          <a:blip r:embed="rId3"/>
          <a:stretch>
            <a:fillRect/>
          </a:stretch>
        </p:blipFill>
        <p:spPr>
          <a:xfrm>
            <a:off x="1300974" y="1471685"/>
            <a:ext cx="5516137" cy="3511477"/>
          </a:xfrm>
          <a:prstGeom prst="rect">
            <a:avLst/>
          </a:prstGeom>
        </p:spPr>
      </p:pic>
      <p:sp>
        <p:nvSpPr>
          <p:cNvPr id="6" name="TextBox 5">
            <a:extLst>
              <a:ext uri="{FF2B5EF4-FFF2-40B4-BE49-F238E27FC236}">
                <a16:creationId xmlns:a16="http://schemas.microsoft.com/office/drawing/2014/main" id="{E1BC1040-65C3-7E61-EFB7-FB4A55203735}"/>
              </a:ext>
            </a:extLst>
          </p:cNvPr>
          <p:cNvSpPr txBox="1"/>
          <p:nvPr/>
        </p:nvSpPr>
        <p:spPr>
          <a:xfrm>
            <a:off x="6876586" y="1471685"/>
            <a:ext cx="1659308" cy="461665"/>
          </a:xfrm>
          <a:prstGeom prst="rect">
            <a:avLst/>
          </a:prstGeom>
          <a:noFill/>
        </p:spPr>
        <p:txBody>
          <a:bodyPr wrap="square" rtlCol="0">
            <a:spAutoFit/>
          </a:bodyPr>
          <a:lstStyle/>
          <a:p>
            <a:r>
              <a:rPr lang="en-IN" sz="2400" b="1" i="0" u="sng" dirty="0">
                <a:solidFill>
                  <a:srgbClr val="3C4043"/>
                </a:solidFill>
                <a:effectLst/>
                <a:highlight>
                  <a:srgbClr val="FFFFFF"/>
                </a:highlight>
                <a:latin typeface="+mj-lt"/>
              </a:rPr>
              <a:t>Alzheimer</a:t>
            </a:r>
            <a:endParaRPr lang="en-IN" u="sng"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 name="Picture 4">
            <a:extLst>
              <a:ext uri="{FF2B5EF4-FFF2-40B4-BE49-F238E27FC236}">
                <a16:creationId xmlns:a16="http://schemas.microsoft.com/office/drawing/2014/main" id="{5D27264C-12A5-88DE-977D-7E8F3E14BF4A}"/>
              </a:ext>
            </a:extLst>
          </p:cNvPr>
          <p:cNvPicPr>
            <a:picLocks noChangeAspect="1"/>
          </p:cNvPicPr>
          <p:nvPr/>
        </p:nvPicPr>
        <p:blipFill>
          <a:blip r:embed="rId3"/>
          <a:stretch>
            <a:fillRect/>
          </a:stretch>
        </p:blipFill>
        <p:spPr>
          <a:xfrm>
            <a:off x="281568" y="112324"/>
            <a:ext cx="6386861" cy="4864376"/>
          </a:xfrm>
          <a:prstGeom prst="rect">
            <a:avLst/>
          </a:prstGeom>
        </p:spPr>
      </p:pic>
      <p:sp>
        <p:nvSpPr>
          <p:cNvPr id="7" name="TextBox 6">
            <a:extLst>
              <a:ext uri="{FF2B5EF4-FFF2-40B4-BE49-F238E27FC236}">
                <a16:creationId xmlns:a16="http://schemas.microsoft.com/office/drawing/2014/main" id="{F98C83CF-C8ED-BF91-D6D8-D180A4C026B9}"/>
              </a:ext>
            </a:extLst>
          </p:cNvPr>
          <p:cNvSpPr txBox="1"/>
          <p:nvPr/>
        </p:nvSpPr>
        <p:spPr>
          <a:xfrm>
            <a:off x="6897957" y="115154"/>
            <a:ext cx="1503938" cy="523220"/>
          </a:xfrm>
          <a:prstGeom prst="rect">
            <a:avLst/>
          </a:prstGeom>
          <a:noFill/>
        </p:spPr>
        <p:txBody>
          <a:bodyPr wrap="none" rtlCol="0">
            <a:spAutoFit/>
          </a:bodyPr>
          <a:lstStyle/>
          <a:p>
            <a:r>
              <a:rPr lang="en-IN" sz="2800" b="1" u="sng" dirty="0">
                <a:solidFill>
                  <a:srgbClr val="202124"/>
                </a:solidFill>
                <a:effectLst/>
                <a:highlight>
                  <a:srgbClr val="FFFFFF"/>
                </a:highlight>
                <a:latin typeface="+mj-lt"/>
              </a:rPr>
              <a:t>Asthma</a:t>
            </a:r>
            <a:endParaRPr lang="en-IN" u="sng" dirty="0"/>
          </a:p>
        </p:txBody>
      </p:sp>
    </p:spTree>
    <p:extLst>
      <p:ext uri="{BB962C8B-B14F-4D97-AF65-F5344CB8AC3E}">
        <p14:creationId xmlns:p14="http://schemas.microsoft.com/office/powerpoint/2010/main" val="3638403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 name="TextBox 6">
            <a:extLst>
              <a:ext uri="{FF2B5EF4-FFF2-40B4-BE49-F238E27FC236}">
                <a16:creationId xmlns:a16="http://schemas.microsoft.com/office/drawing/2014/main" id="{F98C83CF-C8ED-BF91-D6D8-D180A4C026B9}"/>
              </a:ext>
            </a:extLst>
          </p:cNvPr>
          <p:cNvSpPr txBox="1"/>
          <p:nvPr/>
        </p:nvSpPr>
        <p:spPr>
          <a:xfrm>
            <a:off x="6875654" y="268204"/>
            <a:ext cx="1685077" cy="523220"/>
          </a:xfrm>
          <a:prstGeom prst="rect">
            <a:avLst/>
          </a:prstGeom>
          <a:noFill/>
        </p:spPr>
        <p:txBody>
          <a:bodyPr wrap="none" rtlCol="0">
            <a:spAutoFit/>
          </a:bodyPr>
          <a:lstStyle/>
          <a:p>
            <a:r>
              <a:rPr lang="en-IN" sz="2800" b="1" i="0" u="sng" dirty="0">
                <a:solidFill>
                  <a:srgbClr val="202124"/>
                </a:solidFill>
                <a:effectLst/>
                <a:highlight>
                  <a:srgbClr val="FFFFFF"/>
                </a:highlight>
                <a:latin typeface="+mj-lt"/>
              </a:rPr>
              <a:t>Diabetes</a:t>
            </a:r>
            <a:endParaRPr lang="en-IN" u="sng" dirty="0"/>
          </a:p>
        </p:txBody>
      </p:sp>
      <p:pic>
        <p:nvPicPr>
          <p:cNvPr id="3" name="Picture 2">
            <a:extLst>
              <a:ext uri="{FF2B5EF4-FFF2-40B4-BE49-F238E27FC236}">
                <a16:creationId xmlns:a16="http://schemas.microsoft.com/office/drawing/2014/main" id="{7DEF29FC-5A70-88B5-E76E-8F9604713E39}"/>
              </a:ext>
            </a:extLst>
          </p:cNvPr>
          <p:cNvPicPr>
            <a:picLocks noChangeAspect="1"/>
          </p:cNvPicPr>
          <p:nvPr/>
        </p:nvPicPr>
        <p:blipFill>
          <a:blip r:embed="rId3"/>
          <a:stretch>
            <a:fillRect/>
          </a:stretch>
        </p:blipFill>
        <p:spPr>
          <a:xfrm>
            <a:off x="0" y="268204"/>
            <a:ext cx="6296722" cy="4708496"/>
          </a:xfrm>
          <a:prstGeom prst="rect">
            <a:avLst/>
          </a:prstGeom>
        </p:spPr>
      </p:pic>
    </p:spTree>
    <p:extLst>
      <p:ext uri="{BB962C8B-B14F-4D97-AF65-F5344CB8AC3E}">
        <p14:creationId xmlns:p14="http://schemas.microsoft.com/office/powerpoint/2010/main" val="1511105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 name="TextBox 6">
            <a:extLst>
              <a:ext uri="{FF2B5EF4-FFF2-40B4-BE49-F238E27FC236}">
                <a16:creationId xmlns:a16="http://schemas.microsoft.com/office/drawing/2014/main" id="{F98C83CF-C8ED-BF91-D6D8-D180A4C026B9}"/>
              </a:ext>
            </a:extLst>
          </p:cNvPr>
          <p:cNvSpPr txBox="1"/>
          <p:nvPr/>
        </p:nvSpPr>
        <p:spPr>
          <a:xfrm>
            <a:off x="6897957" y="115154"/>
            <a:ext cx="1104790" cy="523220"/>
          </a:xfrm>
          <a:prstGeom prst="rect">
            <a:avLst/>
          </a:prstGeom>
          <a:noFill/>
        </p:spPr>
        <p:txBody>
          <a:bodyPr wrap="none" rtlCol="0">
            <a:spAutoFit/>
          </a:bodyPr>
          <a:lstStyle/>
          <a:p>
            <a:r>
              <a:rPr lang="en-IN" sz="2800" b="1" u="sng" dirty="0">
                <a:solidFill>
                  <a:srgbClr val="202124"/>
                </a:solidFill>
                <a:highlight>
                  <a:srgbClr val="FFFFFF"/>
                </a:highlight>
                <a:latin typeface="+mj-lt"/>
              </a:rPr>
              <a:t>Heart</a:t>
            </a:r>
            <a:endParaRPr lang="en-IN" u="sng" dirty="0"/>
          </a:p>
        </p:txBody>
      </p:sp>
      <p:pic>
        <p:nvPicPr>
          <p:cNvPr id="3" name="Picture 2">
            <a:extLst>
              <a:ext uri="{FF2B5EF4-FFF2-40B4-BE49-F238E27FC236}">
                <a16:creationId xmlns:a16="http://schemas.microsoft.com/office/drawing/2014/main" id="{3342F202-CEA8-E8C7-1F90-0A65EF5F1D30}"/>
              </a:ext>
            </a:extLst>
          </p:cNvPr>
          <p:cNvPicPr>
            <a:picLocks noChangeAspect="1"/>
          </p:cNvPicPr>
          <p:nvPr/>
        </p:nvPicPr>
        <p:blipFill>
          <a:blip r:embed="rId3"/>
          <a:stretch>
            <a:fillRect/>
          </a:stretch>
        </p:blipFill>
        <p:spPr>
          <a:xfrm>
            <a:off x="0" y="176332"/>
            <a:ext cx="6897957" cy="4800368"/>
          </a:xfrm>
          <a:prstGeom prst="rect">
            <a:avLst/>
          </a:prstGeom>
        </p:spPr>
      </p:pic>
    </p:spTree>
    <p:extLst>
      <p:ext uri="{BB962C8B-B14F-4D97-AF65-F5344CB8AC3E}">
        <p14:creationId xmlns:p14="http://schemas.microsoft.com/office/powerpoint/2010/main" val="918529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 name="TextBox 6">
            <a:extLst>
              <a:ext uri="{FF2B5EF4-FFF2-40B4-BE49-F238E27FC236}">
                <a16:creationId xmlns:a16="http://schemas.microsoft.com/office/drawing/2014/main" id="{F98C83CF-C8ED-BF91-D6D8-D180A4C026B9}"/>
              </a:ext>
            </a:extLst>
          </p:cNvPr>
          <p:cNvSpPr txBox="1"/>
          <p:nvPr/>
        </p:nvSpPr>
        <p:spPr>
          <a:xfrm>
            <a:off x="6332962" y="137456"/>
            <a:ext cx="2869696" cy="646331"/>
          </a:xfrm>
          <a:prstGeom prst="rect">
            <a:avLst/>
          </a:prstGeom>
          <a:noFill/>
        </p:spPr>
        <p:txBody>
          <a:bodyPr wrap="none" rtlCol="0">
            <a:spAutoFit/>
          </a:bodyPr>
          <a:lstStyle/>
          <a:p>
            <a:r>
              <a:rPr lang="en-US" sz="2800" b="1" i="0" u="sng" dirty="0">
                <a:solidFill>
                  <a:srgbClr val="202124"/>
                </a:solidFill>
                <a:effectLst/>
                <a:highlight>
                  <a:srgbClr val="FFFFFF"/>
                </a:highlight>
                <a:latin typeface="+mj-lt"/>
              </a:rPr>
              <a:t>Chronic</a:t>
            </a:r>
            <a:r>
              <a:rPr lang="en-US" sz="3600" b="1" i="0" u="sng" dirty="0">
                <a:solidFill>
                  <a:srgbClr val="202124"/>
                </a:solidFill>
                <a:effectLst/>
                <a:highlight>
                  <a:srgbClr val="FFFFFF"/>
                </a:highlight>
                <a:latin typeface="+mj-lt"/>
              </a:rPr>
              <a:t> </a:t>
            </a:r>
            <a:r>
              <a:rPr lang="en-US" sz="2800" b="1" i="0" u="sng" dirty="0">
                <a:solidFill>
                  <a:srgbClr val="202124"/>
                </a:solidFill>
                <a:effectLst/>
                <a:highlight>
                  <a:srgbClr val="FFFFFF"/>
                </a:highlight>
                <a:latin typeface="+mj-lt"/>
              </a:rPr>
              <a:t>Kidney</a:t>
            </a:r>
            <a:endParaRPr lang="en-IN" u="sng" dirty="0"/>
          </a:p>
        </p:txBody>
      </p:sp>
      <p:pic>
        <p:nvPicPr>
          <p:cNvPr id="3" name="Picture 2">
            <a:extLst>
              <a:ext uri="{FF2B5EF4-FFF2-40B4-BE49-F238E27FC236}">
                <a16:creationId xmlns:a16="http://schemas.microsoft.com/office/drawing/2014/main" id="{A64B9389-BE20-6193-FC2D-9FF8AF68AB71}"/>
              </a:ext>
            </a:extLst>
          </p:cNvPr>
          <p:cNvPicPr>
            <a:picLocks noChangeAspect="1"/>
          </p:cNvPicPr>
          <p:nvPr/>
        </p:nvPicPr>
        <p:blipFill>
          <a:blip r:embed="rId3"/>
          <a:stretch>
            <a:fillRect/>
          </a:stretch>
        </p:blipFill>
        <p:spPr>
          <a:xfrm>
            <a:off x="190857" y="76668"/>
            <a:ext cx="6142105" cy="4900032"/>
          </a:xfrm>
          <a:prstGeom prst="rect">
            <a:avLst/>
          </a:prstGeom>
        </p:spPr>
      </p:pic>
    </p:spTree>
    <p:extLst>
      <p:ext uri="{BB962C8B-B14F-4D97-AF65-F5344CB8AC3E}">
        <p14:creationId xmlns:p14="http://schemas.microsoft.com/office/powerpoint/2010/main" val="1180839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 name="TextBox 6">
            <a:extLst>
              <a:ext uri="{FF2B5EF4-FFF2-40B4-BE49-F238E27FC236}">
                <a16:creationId xmlns:a16="http://schemas.microsoft.com/office/drawing/2014/main" id="{F98C83CF-C8ED-BF91-D6D8-D180A4C026B9}"/>
              </a:ext>
            </a:extLst>
          </p:cNvPr>
          <p:cNvSpPr txBox="1"/>
          <p:nvPr/>
        </p:nvSpPr>
        <p:spPr>
          <a:xfrm>
            <a:off x="7299401" y="196930"/>
            <a:ext cx="1043876" cy="523220"/>
          </a:xfrm>
          <a:prstGeom prst="rect">
            <a:avLst/>
          </a:prstGeom>
          <a:noFill/>
        </p:spPr>
        <p:txBody>
          <a:bodyPr wrap="none" rtlCol="0">
            <a:spAutoFit/>
          </a:bodyPr>
          <a:lstStyle/>
          <a:p>
            <a:r>
              <a:rPr lang="en-IN" sz="2800" b="1" i="0" u="sng" dirty="0">
                <a:solidFill>
                  <a:srgbClr val="202124"/>
                </a:solidFill>
                <a:effectLst/>
                <a:highlight>
                  <a:srgbClr val="FFFFFF"/>
                </a:highlight>
                <a:latin typeface="+mj-lt"/>
              </a:rPr>
              <a:t>Liver</a:t>
            </a:r>
            <a:endParaRPr lang="en-IN" u="sng" dirty="0"/>
          </a:p>
        </p:txBody>
      </p:sp>
      <p:pic>
        <p:nvPicPr>
          <p:cNvPr id="3" name="Picture 2">
            <a:extLst>
              <a:ext uri="{FF2B5EF4-FFF2-40B4-BE49-F238E27FC236}">
                <a16:creationId xmlns:a16="http://schemas.microsoft.com/office/drawing/2014/main" id="{9168D588-3A86-D4F4-52D2-4F552B3F3D4F}"/>
              </a:ext>
            </a:extLst>
          </p:cNvPr>
          <p:cNvPicPr>
            <a:picLocks noChangeAspect="1"/>
          </p:cNvPicPr>
          <p:nvPr/>
        </p:nvPicPr>
        <p:blipFill>
          <a:blip r:embed="rId3"/>
          <a:stretch>
            <a:fillRect/>
          </a:stretch>
        </p:blipFill>
        <p:spPr>
          <a:xfrm>
            <a:off x="0" y="166414"/>
            <a:ext cx="7389541" cy="4780156"/>
          </a:xfrm>
          <a:prstGeom prst="rect">
            <a:avLst/>
          </a:prstGeom>
        </p:spPr>
      </p:pic>
    </p:spTree>
    <p:extLst>
      <p:ext uri="{BB962C8B-B14F-4D97-AF65-F5344CB8AC3E}">
        <p14:creationId xmlns:p14="http://schemas.microsoft.com/office/powerpoint/2010/main" val="4098708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 name="TextBox 5">
            <a:extLst>
              <a:ext uri="{FF2B5EF4-FFF2-40B4-BE49-F238E27FC236}">
                <a16:creationId xmlns:a16="http://schemas.microsoft.com/office/drawing/2014/main" id="{334C6467-CB43-3903-41F9-81C5EABFB505}"/>
              </a:ext>
            </a:extLst>
          </p:cNvPr>
          <p:cNvSpPr txBox="1"/>
          <p:nvPr/>
        </p:nvSpPr>
        <p:spPr>
          <a:xfrm>
            <a:off x="0" y="4325185"/>
            <a:ext cx="1690896" cy="523220"/>
          </a:xfrm>
          <a:prstGeom prst="rect">
            <a:avLst/>
          </a:prstGeom>
          <a:noFill/>
        </p:spPr>
        <p:txBody>
          <a:bodyPr wrap="square">
            <a:spAutoFit/>
          </a:bodyPr>
          <a:lstStyle/>
          <a:p>
            <a:r>
              <a:rPr lang="en-IN" dirty="0"/>
              <a:t>Negative (0): 1389</a:t>
            </a:r>
          </a:p>
          <a:p>
            <a:r>
              <a:rPr lang="en-IN" dirty="0"/>
              <a:t>Positive (1): 760</a:t>
            </a:r>
          </a:p>
        </p:txBody>
      </p:sp>
      <p:sp>
        <p:nvSpPr>
          <p:cNvPr id="9" name="TextBox 8">
            <a:extLst>
              <a:ext uri="{FF2B5EF4-FFF2-40B4-BE49-F238E27FC236}">
                <a16:creationId xmlns:a16="http://schemas.microsoft.com/office/drawing/2014/main" id="{9C275F9C-4843-D56E-F3BB-B434CAADA87B}"/>
              </a:ext>
            </a:extLst>
          </p:cNvPr>
          <p:cNvSpPr txBox="1"/>
          <p:nvPr/>
        </p:nvSpPr>
        <p:spPr>
          <a:xfrm>
            <a:off x="0" y="111511"/>
            <a:ext cx="9144000" cy="523220"/>
          </a:xfrm>
          <a:prstGeom prst="rect">
            <a:avLst/>
          </a:prstGeom>
          <a:noFill/>
        </p:spPr>
        <p:txBody>
          <a:bodyPr wrap="square" rtlCol="0">
            <a:spAutoFit/>
          </a:bodyPr>
          <a:lstStyle/>
          <a:p>
            <a:pPr algn="ctr"/>
            <a:r>
              <a:rPr lang="en-IN" sz="2800" b="1" u="sng" dirty="0"/>
              <a:t>Positive(1) v/s Negative(0)</a:t>
            </a:r>
          </a:p>
        </p:txBody>
      </p:sp>
      <p:pic>
        <p:nvPicPr>
          <p:cNvPr id="11" name="Picture 10">
            <a:extLst>
              <a:ext uri="{FF2B5EF4-FFF2-40B4-BE49-F238E27FC236}">
                <a16:creationId xmlns:a16="http://schemas.microsoft.com/office/drawing/2014/main" id="{4A85E5D6-788E-2165-CE5B-5E77369CD6DF}"/>
              </a:ext>
            </a:extLst>
          </p:cNvPr>
          <p:cNvPicPr>
            <a:picLocks noChangeAspect="1"/>
          </p:cNvPicPr>
          <p:nvPr/>
        </p:nvPicPr>
        <p:blipFill>
          <a:blip r:embed="rId3"/>
          <a:stretch>
            <a:fillRect/>
          </a:stretch>
        </p:blipFill>
        <p:spPr>
          <a:xfrm>
            <a:off x="0" y="1566206"/>
            <a:ext cx="4572000" cy="2694831"/>
          </a:xfrm>
          <a:prstGeom prst="rect">
            <a:avLst/>
          </a:prstGeom>
        </p:spPr>
      </p:pic>
      <p:sp>
        <p:nvSpPr>
          <p:cNvPr id="13" name="TextBox 12">
            <a:extLst>
              <a:ext uri="{FF2B5EF4-FFF2-40B4-BE49-F238E27FC236}">
                <a16:creationId xmlns:a16="http://schemas.microsoft.com/office/drawing/2014/main" id="{EEABB22F-2CF0-A4DB-FB70-AFA5F1088FDB}"/>
              </a:ext>
            </a:extLst>
          </p:cNvPr>
          <p:cNvSpPr txBox="1"/>
          <p:nvPr/>
        </p:nvSpPr>
        <p:spPr>
          <a:xfrm>
            <a:off x="-14868" y="1040393"/>
            <a:ext cx="4586868" cy="461665"/>
          </a:xfrm>
          <a:prstGeom prst="rect">
            <a:avLst/>
          </a:prstGeom>
          <a:noFill/>
        </p:spPr>
        <p:txBody>
          <a:bodyPr wrap="square">
            <a:spAutoFit/>
          </a:bodyPr>
          <a:lstStyle/>
          <a:p>
            <a:r>
              <a:rPr lang="en-IN" sz="2400" b="1" i="0" u="sng" dirty="0">
                <a:solidFill>
                  <a:srgbClr val="3C4043"/>
                </a:solidFill>
                <a:effectLst/>
                <a:highlight>
                  <a:srgbClr val="FFFFFF"/>
                </a:highlight>
                <a:latin typeface="+mj-lt"/>
              </a:rPr>
              <a:t>Alzheimer</a:t>
            </a:r>
            <a:endParaRPr lang="en-IN" u="sng" dirty="0"/>
          </a:p>
        </p:txBody>
      </p:sp>
      <p:pic>
        <p:nvPicPr>
          <p:cNvPr id="15" name="Picture 14">
            <a:extLst>
              <a:ext uri="{FF2B5EF4-FFF2-40B4-BE49-F238E27FC236}">
                <a16:creationId xmlns:a16="http://schemas.microsoft.com/office/drawing/2014/main" id="{1B2DD91C-55EA-728A-E9E0-24BBEDA3B793}"/>
              </a:ext>
            </a:extLst>
          </p:cNvPr>
          <p:cNvPicPr>
            <a:picLocks noChangeAspect="1"/>
          </p:cNvPicPr>
          <p:nvPr/>
        </p:nvPicPr>
        <p:blipFill>
          <a:blip r:embed="rId4"/>
          <a:stretch>
            <a:fillRect/>
          </a:stretch>
        </p:blipFill>
        <p:spPr>
          <a:xfrm>
            <a:off x="4906766" y="1566206"/>
            <a:ext cx="4237234" cy="2497513"/>
          </a:xfrm>
          <a:prstGeom prst="rect">
            <a:avLst/>
          </a:prstGeom>
        </p:spPr>
      </p:pic>
      <p:sp>
        <p:nvSpPr>
          <p:cNvPr id="19" name="TextBox 18">
            <a:extLst>
              <a:ext uri="{FF2B5EF4-FFF2-40B4-BE49-F238E27FC236}">
                <a16:creationId xmlns:a16="http://schemas.microsoft.com/office/drawing/2014/main" id="{06B46E48-E35B-C68F-CE76-AFE2B2CAC317}"/>
              </a:ext>
            </a:extLst>
          </p:cNvPr>
          <p:cNvSpPr txBox="1"/>
          <p:nvPr/>
        </p:nvSpPr>
        <p:spPr>
          <a:xfrm>
            <a:off x="4512528" y="4279835"/>
            <a:ext cx="4631472" cy="523220"/>
          </a:xfrm>
          <a:prstGeom prst="rect">
            <a:avLst/>
          </a:prstGeom>
          <a:noFill/>
        </p:spPr>
        <p:txBody>
          <a:bodyPr wrap="square">
            <a:spAutoFit/>
          </a:bodyPr>
          <a:lstStyle/>
          <a:p>
            <a:pPr algn="r"/>
            <a:r>
              <a:rPr lang="it-IT" dirty="0"/>
              <a:t>Negative (0): 2268</a:t>
            </a:r>
          </a:p>
          <a:p>
            <a:pPr algn="r"/>
            <a:r>
              <a:rPr lang="it-IT" dirty="0"/>
              <a:t>Positive (1): 124</a:t>
            </a:r>
            <a:endParaRPr lang="en-IN" dirty="0"/>
          </a:p>
        </p:txBody>
      </p:sp>
      <p:sp>
        <p:nvSpPr>
          <p:cNvPr id="21" name="TextBox 20">
            <a:extLst>
              <a:ext uri="{FF2B5EF4-FFF2-40B4-BE49-F238E27FC236}">
                <a16:creationId xmlns:a16="http://schemas.microsoft.com/office/drawing/2014/main" id="{E11B2428-C930-C32B-D8E2-A17D66855E2C}"/>
              </a:ext>
            </a:extLst>
          </p:cNvPr>
          <p:cNvSpPr txBox="1"/>
          <p:nvPr/>
        </p:nvSpPr>
        <p:spPr>
          <a:xfrm>
            <a:off x="6029093" y="1017718"/>
            <a:ext cx="3114907" cy="461665"/>
          </a:xfrm>
          <a:prstGeom prst="rect">
            <a:avLst/>
          </a:prstGeom>
          <a:noFill/>
        </p:spPr>
        <p:txBody>
          <a:bodyPr wrap="square">
            <a:spAutoFit/>
          </a:bodyPr>
          <a:lstStyle/>
          <a:p>
            <a:pPr algn="r"/>
            <a:r>
              <a:rPr lang="en-IN" sz="2400" b="1" u="sng" dirty="0">
                <a:solidFill>
                  <a:srgbClr val="202124"/>
                </a:solidFill>
                <a:effectLst/>
                <a:highlight>
                  <a:srgbClr val="FFFFFF"/>
                </a:highlight>
                <a:latin typeface="+mj-lt"/>
              </a:rPr>
              <a:t>Asthma</a:t>
            </a:r>
            <a:endParaRPr lang="en-IN" sz="2400" u="sng" dirty="0"/>
          </a:p>
        </p:txBody>
      </p:sp>
    </p:spTree>
    <p:extLst>
      <p:ext uri="{BB962C8B-B14F-4D97-AF65-F5344CB8AC3E}">
        <p14:creationId xmlns:p14="http://schemas.microsoft.com/office/powerpoint/2010/main" val="1369651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 name="TextBox 5">
            <a:extLst>
              <a:ext uri="{FF2B5EF4-FFF2-40B4-BE49-F238E27FC236}">
                <a16:creationId xmlns:a16="http://schemas.microsoft.com/office/drawing/2014/main" id="{334C6467-CB43-3903-41F9-81C5EABFB505}"/>
              </a:ext>
            </a:extLst>
          </p:cNvPr>
          <p:cNvSpPr txBox="1"/>
          <p:nvPr/>
        </p:nvSpPr>
        <p:spPr>
          <a:xfrm>
            <a:off x="0" y="4325185"/>
            <a:ext cx="2416098" cy="523220"/>
          </a:xfrm>
          <a:prstGeom prst="rect">
            <a:avLst/>
          </a:prstGeom>
          <a:noFill/>
        </p:spPr>
        <p:txBody>
          <a:bodyPr wrap="square">
            <a:spAutoFit/>
          </a:bodyPr>
          <a:lstStyle/>
          <a:p>
            <a:r>
              <a:rPr lang="it-IT" dirty="0"/>
              <a:t>Negative (0):500</a:t>
            </a:r>
          </a:p>
          <a:p>
            <a:r>
              <a:rPr lang="it-IT" dirty="0"/>
              <a:t>Positive (1): 268</a:t>
            </a:r>
            <a:endParaRPr lang="en-IN" dirty="0"/>
          </a:p>
        </p:txBody>
      </p:sp>
      <p:sp>
        <p:nvSpPr>
          <p:cNvPr id="9" name="TextBox 8">
            <a:extLst>
              <a:ext uri="{FF2B5EF4-FFF2-40B4-BE49-F238E27FC236}">
                <a16:creationId xmlns:a16="http://schemas.microsoft.com/office/drawing/2014/main" id="{9C275F9C-4843-D56E-F3BB-B434CAADA87B}"/>
              </a:ext>
            </a:extLst>
          </p:cNvPr>
          <p:cNvSpPr txBox="1"/>
          <p:nvPr/>
        </p:nvSpPr>
        <p:spPr>
          <a:xfrm>
            <a:off x="0" y="111511"/>
            <a:ext cx="9144000" cy="523220"/>
          </a:xfrm>
          <a:prstGeom prst="rect">
            <a:avLst/>
          </a:prstGeom>
          <a:noFill/>
        </p:spPr>
        <p:txBody>
          <a:bodyPr wrap="square" rtlCol="0">
            <a:spAutoFit/>
          </a:bodyPr>
          <a:lstStyle/>
          <a:p>
            <a:pPr algn="ctr"/>
            <a:r>
              <a:rPr lang="en-IN" sz="2800" b="1" u="sng" dirty="0"/>
              <a:t>Positive(1) v/s Negative(0)</a:t>
            </a:r>
          </a:p>
        </p:txBody>
      </p:sp>
      <p:sp>
        <p:nvSpPr>
          <p:cNvPr id="13" name="TextBox 12">
            <a:extLst>
              <a:ext uri="{FF2B5EF4-FFF2-40B4-BE49-F238E27FC236}">
                <a16:creationId xmlns:a16="http://schemas.microsoft.com/office/drawing/2014/main" id="{EEABB22F-2CF0-A4DB-FB70-AFA5F1088FDB}"/>
              </a:ext>
            </a:extLst>
          </p:cNvPr>
          <p:cNvSpPr txBox="1"/>
          <p:nvPr/>
        </p:nvSpPr>
        <p:spPr>
          <a:xfrm>
            <a:off x="-14868" y="1040393"/>
            <a:ext cx="4586868" cy="461665"/>
          </a:xfrm>
          <a:prstGeom prst="rect">
            <a:avLst/>
          </a:prstGeom>
          <a:noFill/>
        </p:spPr>
        <p:txBody>
          <a:bodyPr wrap="square">
            <a:spAutoFit/>
          </a:bodyPr>
          <a:lstStyle/>
          <a:p>
            <a:r>
              <a:rPr lang="en-IN" sz="2400" b="1" i="0" u="sng" dirty="0">
                <a:solidFill>
                  <a:srgbClr val="202124"/>
                </a:solidFill>
                <a:effectLst/>
                <a:highlight>
                  <a:srgbClr val="FFFFFF"/>
                </a:highlight>
                <a:latin typeface="+mj-lt"/>
              </a:rPr>
              <a:t>Diabetes</a:t>
            </a:r>
            <a:endParaRPr lang="en-IN" sz="2400" u="sng" dirty="0"/>
          </a:p>
        </p:txBody>
      </p:sp>
      <p:pic>
        <p:nvPicPr>
          <p:cNvPr id="15" name="Picture 14">
            <a:extLst>
              <a:ext uri="{FF2B5EF4-FFF2-40B4-BE49-F238E27FC236}">
                <a16:creationId xmlns:a16="http://schemas.microsoft.com/office/drawing/2014/main" id="{1B2DD91C-55EA-728A-E9E0-24BBEDA3B793}"/>
              </a:ext>
            </a:extLst>
          </p:cNvPr>
          <p:cNvPicPr>
            <a:picLocks noChangeAspect="1"/>
          </p:cNvPicPr>
          <p:nvPr/>
        </p:nvPicPr>
        <p:blipFill>
          <a:blip r:embed="rId3"/>
          <a:stretch>
            <a:fillRect/>
          </a:stretch>
        </p:blipFill>
        <p:spPr>
          <a:xfrm>
            <a:off x="4906766" y="1566206"/>
            <a:ext cx="4237234" cy="2497513"/>
          </a:xfrm>
          <a:prstGeom prst="rect">
            <a:avLst/>
          </a:prstGeom>
        </p:spPr>
      </p:pic>
      <p:sp>
        <p:nvSpPr>
          <p:cNvPr id="19" name="TextBox 18">
            <a:extLst>
              <a:ext uri="{FF2B5EF4-FFF2-40B4-BE49-F238E27FC236}">
                <a16:creationId xmlns:a16="http://schemas.microsoft.com/office/drawing/2014/main" id="{06B46E48-E35B-C68F-CE76-AFE2B2CAC317}"/>
              </a:ext>
            </a:extLst>
          </p:cNvPr>
          <p:cNvSpPr txBox="1"/>
          <p:nvPr/>
        </p:nvSpPr>
        <p:spPr>
          <a:xfrm>
            <a:off x="4512528" y="4279835"/>
            <a:ext cx="4631472" cy="523220"/>
          </a:xfrm>
          <a:prstGeom prst="rect">
            <a:avLst/>
          </a:prstGeom>
          <a:noFill/>
        </p:spPr>
        <p:txBody>
          <a:bodyPr wrap="square">
            <a:spAutoFit/>
          </a:bodyPr>
          <a:lstStyle/>
          <a:p>
            <a:pPr algn="r"/>
            <a:r>
              <a:rPr lang="it-IT" dirty="0"/>
              <a:t>Negative (0): 629</a:t>
            </a:r>
          </a:p>
          <a:p>
            <a:pPr algn="r"/>
            <a:r>
              <a:rPr lang="it-IT" dirty="0"/>
              <a:t>Positive (1): 561</a:t>
            </a:r>
            <a:endParaRPr lang="en-IN" dirty="0"/>
          </a:p>
        </p:txBody>
      </p:sp>
      <p:sp>
        <p:nvSpPr>
          <p:cNvPr id="21" name="TextBox 20">
            <a:extLst>
              <a:ext uri="{FF2B5EF4-FFF2-40B4-BE49-F238E27FC236}">
                <a16:creationId xmlns:a16="http://schemas.microsoft.com/office/drawing/2014/main" id="{E11B2428-C930-C32B-D8E2-A17D66855E2C}"/>
              </a:ext>
            </a:extLst>
          </p:cNvPr>
          <p:cNvSpPr txBox="1"/>
          <p:nvPr/>
        </p:nvSpPr>
        <p:spPr>
          <a:xfrm>
            <a:off x="6029093" y="1017718"/>
            <a:ext cx="3114907" cy="461665"/>
          </a:xfrm>
          <a:prstGeom prst="rect">
            <a:avLst/>
          </a:prstGeom>
          <a:noFill/>
        </p:spPr>
        <p:txBody>
          <a:bodyPr wrap="square">
            <a:spAutoFit/>
          </a:bodyPr>
          <a:lstStyle/>
          <a:p>
            <a:pPr algn="r"/>
            <a:r>
              <a:rPr lang="en-IN" sz="2400" b="1" u="sng" dirty="0">
                <a:solidFill>
                  <a:srgbClr val="202124"/>
                </a:solidFill>
                <a:highlight>
                  <a:srgbClr val="FFFFFF"/>
                </a:highlight>
                <a:latin typeface="+mj-lt"/>
              </a:rPr>
              <a:t>Heart</a:t>
            </a:r>
            <a:endParaRPr lang="en-IN" sz="2400" u="sng" dirty="0"/>
          </a:p>
        </p:txBody>
      </p:sp>
      <p:pic>
        <p:nvPicPr>
          <p:cNvPr id="3" name="Picture 2">
            <a:extLst>
              <a:ext uri="{FF2B5EF4-FFF2-40B4-BE49-F238E27FC236}">
                <a16:creationId xmlns:a16="http://schemas.microsoft.com/office/drawing/2014/main" id="{1DC74A0E-5018-B1A7-7646-F1D6305B2FEE}"/>
              </a:ext>
            </a:extLst>
          </p:cNvPr>
          <p:cNvPicPr>
            <a:picLocks noChangeAspect="1"/>
          </p:cNvPicPr>
          <p:nvPr/>
        </p:nvPicPr>
        <p:blipFill>
          <a:blip r:embed="rId4"/>
          <a:stretch>
            <a:fillRect/>
          </a:stretch>
        </p:blipFill>
        <p:spPr>
          <a:xfrm>
            <a:off x="1" y="1601260"/>
            <a:ext cx="4512528" cy="2659777"/>
          </a:xfrm>
          <a:prstGeom prst="rect">
            <a:avLst/>
          </a:prstGeom>
        </p:spPr>
      </p:pic>
      <p:pic>
        <p:nvPicPr>
          <p:cNvPr id="5" name="Picture 4">
            <a:extLst>
              <a:ext uri="{FF2B5EF4-FFF2-40B4-BE49-F238E27FC236}">
                <a16:creationId xmlns:a16="http://schemas.microsoft.com/office/drawing/2014/main" id="{B2AF0BAA-1521-A335-1A66-B30DACEFDA41}"/>
              </a:ext>
            </a:extLst>
          </p:cNvPr>
          <p:cNvPicPr>
            <a:picLocks noChangeAspect="1"/>
          </p:cNvPicPr>
          <p:nvPr/>
        </p:nvPicPr>
        <p:blipFill>
          <a:blip r:embed="rId5"/>
          <a:stretch>
            <a:fillRect/>
          </a:stretch>
        </p:blipFill>
        <p:spPr>
          <a:xfrm>
            <a:off x="4631472" y="1601259"/>
            <a:ext cx="4512528" cy="2659777"/>
          </a:xfrm>
          <a:prstGeom prst="rect">
            <a:avLst/>
          </a:prstGeom>
        </p:spPr>
      </p:pic>
    </p:spTree>
    <p:extLst>
      <p:ext uri="{BB962C8B-B14F-4D97-AF65-F5344CB8AC3E}">
        <p14:creationId xmlns:p14="http://schemas.microsoft.com/office/powerpoint/2010/main" val="1239683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 name="TextBox 5">
            <a:extLst>
              <a:ext uri="{FF2B5EF4-FFF2-40B4-BE49-F238E27FC236}">
                <a16:creationId xmlns:a16="http://schemas.microsoft.com/office/drawing/2014/main" id="{334C6467-CB43-3903-41F9-81C5EABFB505}"/>
              </a:ext>
            </a:extLst>
          </p:cNvPr>
          <p:cNvSpPr txBox="1"/>
          <p:nvPr/>
        </p:nvSpPr>
        <p:spPr>
          <a:xfrm>
            <a:off x="-14868" y="4331774"/>
            <a:ext cx="1690896" cy="523220"/>
          </a:xfrm>
          <a:prstGeom prst="rect">
            <a:avLst/>
          </a:prstGeom>
          <a:noFill/>
        </p:spPr>
        <p:txBody>
          <a:bodyPr wrap="square">
            <a:spAutoFit/>
          </a:bodyPr>
          <a:lstStyle/>
          <a:p>
            <a:r>
              <a:rPr lang="en-IN" dirty="0"/>
              <a:t>Negative (0): 1524</a:t>
            </a:r>
          </a:p>
          <a:p>
            <a:r>
              <a:rPr lang="en-IN" dirty="0"/>
              <a:t>Positive (1): 135</a:t>
            </a:r>
          </a:p>
        </p:txBody>
      </p:sp>
      <p:sp>
        <p:nvSpPr>
          <p:cNvPr id="9" name="TextBox 8">
            <a:extLst>
              <a:ext uri="{FF2B5EF4-FFF2-40B4-BE49-F238E27FC236}">
                <a16:creationId xmlns:a16="http://schemas.microsoft.com/office/drawing/2014/main" id="{9C275F9C-4843-D56E-F3BB-B434CAADA87B}"/>
              </a:ext>
            </a:extLst>
          </p:cNvPr>
          <p:cNvSpPr txBox="1"/>
          <p:nvPr/>
        </p:nvSpPr>
        <p:spPr>
          <a:xfrm>
            <a:off x="0" y="111511"/>
            <a:ext cx="9144000" cy="523220"/>
          </a:xfrm>
          <a:prstGeom prst="rect">
            <a:avLst/>
          </a:prstGeom>
          <a:noFill/>
        </p:spPr>
        <p:txBody>
          <a:bodyPr wrap="square" rtlCol="0">
            <a:spAutoFit/>
          </a:bodyPr>
          <a:lstStyle/>
          <a:p>
            <a:pPr algn="ctr"/>
            <a:r>
              <a:rPr lang="en-IN" sz="2800" b="1" u="sng" dirty="0"/>
              <a:t>Positive(1) v/s Negative(0)</a:t>
            </a:r>
          </a:p>
        </p:txBody>
      </p:sp>
      <p:sp>
        <p:nvSpPr>
          <p:cNvPr id="13" name="TextBox 12">
            <a:extLst>
              <a:ext uri="{FF2B5EF4-FFF2-40B4-BE49-F238E27FC236}">
                <a16:creationId xmlns:a16="http://schemas.microsoft.com/office/drawing/2014/main" id="{EEABB22F-2CF0-A4DB-FB70-AFA5F1088FDB}"/>
              </a:ext>
            </a:extLst>
          </p:cNvPr>
          <p:cNvSpPr txBox="1"/>
          <p:nvPr/>
        </p:nvSpPr>
        <p:spPr>
          <a:xfrm>
            <a:off x="-14868" y="1040393"/>
            <a:ext cx="4586868" cy="584775"/>
          </a:xfrm>
          <a:prstGeom prst="rect">
            <a:avLst/>
          </a:prstGeom>
          <a:noFill/>
        </p:spPr>
        <p:txBody>
          <a:bodyPr wrap="square">
            <a:spAutoFit/>
          </a:bodyPr>
          <a:lstStyle/>
          <a:p>
            <a:r>
              <a:rPr lang="en-US" sz="2400" b="1" i="0" u="sng" dirty="0">
                <a:solidFill>
                  <a:srgbClr val="202124"/>
                </a:solidFill>
                <a:effectLst/>
                <a:highlight>
                  <a:srgbClr val="FFFFFF"/>
                </a:highlight>
                <a:latin typeface="+mj-lt"/>
              </a:rPr>
              <a:t>Chronic</a:t>
            </a:r>
            <a:r>
              <a:rPr lang="en-US" sz="3200" b="1" i="0" u="sng" dirty="0">
                <a:solidFill>
                  <a:srgbClr val="202124"/>
                </a:solidFill>
                <a:effectLst/>
                <a:highlight>
                  <a:srgbClr val="FFFFFF"/>
                </a:highlight>
                <a:latin typeface="+mj-lt"/>
              </a:rPr>
              <a:t> </a:t>
            </a:r>
            <a:r>
              <a:rPr lang="en-US" sz="2400" b="1" i="0" u="sng" dirty="0">
                <a:solidFill>
                  <a:srgbClr val="202124"/>
                </a:solidFill>
                <a:effectLst/>
                <a:highlight>
                  <a:srgbClr val="FFFFFF"/>
                </a:highlight>
                <a:latin typeface="+mj-lt"/>
              </a:rPr>
              <a:t>Kidney</a:t>
            </a:r>
            <a:endParaRPr lang="en-IN" sz="2400" u="sng" dirty="0"/>
          </a:p>
        </p:txBody>
      </p:sp>
      <p:sp>
        <p:nvSpPr>
          <p:cNvPr id="19" name="TextBox 18">
            <a:extLst>
              <a:ext uri="{FF2B5EF4-FFF2-40B4-BE49-F238E27FC236}">
                <a16:creationId xmlns:a16="http://schemas.microsoft.com/office/drawing/2014/main" id="{06B46E48-E35B-C68F-CE76-AFE2B2CAC317}"/>
              </a:ext>
            </a:extLst>
          </p:cNvPr>
          <p:cNvSpPr txBox="1"/>
          <p:nvPr/>
        </p:nvSpPr>
        <p:spPr>
          <a:xfrm>
            <a:off x="4512528" y="4279835"/>
            <a:ext cx="4631472" cy="523220"/>
          </a:xfrm>
          <a:prstGeom prst="rect">
            <a:avLst/>
          </a:prstGeom>
          <a:noFill/>
        </p:spPr>
        <p:txBody>
          <a:bodyPr wrap="square">
            <a:spAutoFit/>
          </a:bodyPr>
          <a:lstStyle/>
          <a:p>
            <a:pPr algn="r"/>
            <a:r>
              <a:rPr lang="it-IT" dirty="0"/>
              <a:t>Negative (0): 936</a:t>
            </a:r>
          </a:p>
          <a:p>
            <a:pPr algn="r"/>
            <a:r>
              <a:rPr lang="it-IT" dirty="0"/>
              <a:t>Positive (1): 764</a:t>
            </a:r>
            <a:endParaRPr lang="en-IN" dirty="0"/>
          </a:p>
        </p:txBody>
      </p:sp>
      <p:sp>
        <p:nvSpPr>
          <p:cNvPr id="21" name="TextBox 20">
            <a:extLst>
              <a:ext uri="{FF2B5EF4-FFF2-40B4-BE49-F238E27FC236}">
                <a16:creationId xmlns:a16="http://schemas.microsoft.com/office/drawing/2014/main" id="{E11B2428-C930-C32B-D8E2-A17D66855E2C}"/>
              </a:ext>
            </a:extLst>
          </p:cNvPr>
          <p:cNvSpPr txBox="1"/>
          <p:nvPr/>
        </p:nvSpPr>
        <p:spPr>
          <a:xfrm>
            <a:off x="6029093" y="1017718"/>
            <a:ext cx="3114907" cy="461665"/>
          </a:xfrm>
          <a:prstGeom prst="rect">
            <a:avLst/>
          </a:prstGeom>
          <a:noFill/>
        </p:spPr>
        <p:txBody>
          <a:bodyPr wrap="square">
            <a:spAutoFit/>
          </a:bodyPr>
          <a:lstStyle/>
          <a:p>
            <a:pPr algn="r"/>
            <a:r>
              <a:rPr lang="en-IN" sz="2400" b="1" i="0" u="sng" dirty="0">
                <a:solidFill>
                  <a:srgbClr val="202124"/>
                </a:solidFill>
                <a:effectLst/>
                <a:highlight>
                  <a:srgbClr val="FFFFFF"/>
                </a:highlight>
                <a:latin typeface="+mj-lt"/>
              </a:rPr>
              <a:t>Liver</a:t>
            </a:r>
            <a:endParaRPr lang="en-IN" sz="2400" u="sng" dirty="0"/>
          </a:p>
        </p:txBody>
      </p:sp>
      <p:pic>
        <p:nvPicPr>
          <p:cNvPr id="3" name="Picture 2">
            <a:extLst>
              <a:ext uri="{FF2B5EF4-FFF2-40B4-BE49-F238E27FC236}">
                <a16:creationId xmlns:a16="http://schemas.microsoft.com/office/drawing/2014/main" id="{7CDB6113-82C4-453D-21C3-F04ABD9B2D93}"/>
              </a:ext>
            </a:extLst>
          </p:cNvPr>
          <p:cNvPicPr>
            <a:picLocks noChangeAspect="1"/>
          </p:cNvPicPr>
          <p:nvPr/>
        </p:nvPicPr>
        <p:blipFill>
          <a:blip r:embed="rId3"/>
          <a:stretch>
            <a:fillRect/>
          </a:stretch>
        </p:blipFill>
        <p:spPr>
          <a:xfrm>
            <a:off x="133816" y="1673629"/>
            <a:ext cx="2051823" cy="2390090"/>
          </a:xfrm>
          <a:prstGeom prst="rect">
            <a:avLst/>
          </a:prstGeom>
        </p:spPr>
      </p:pic>
      <p:pic>
        <p:nvPicPr>
          <p:cNvPr id="5" name="Picture 4">
            <a:extLst>
              <a:ext uri="{FF2B5EF4-FFF2-40B4-BE49-F238E27FC236}">
                <a16:creationId xmlns:a16="http://schemas.microsoft.com/office/drawing/2014/main" id="{674103F2-AFA4-29E2-7144-EBD10E657101}"/>
              </a:ext>
            </a:extLst>
          </p:cNvPr>
          <p:cNvPicPr>
            <a:picLocks noChangeAspect="1"/>
          </p:cNvPicPr>
          <p:nvPr/>
        </p:nvPicPr>
        <p:blipFill>
          <a:blip r:embed="rId4"/>
          <a:stretch>
            <a:fillRect/>
          </a:stretch>
        </p:blipFill>
        <p:spPr>
          <a:xfrm>
            <a:off x="2140914" y="1625168"/>
            <a:ext cx="2598469" cy="2560257"/>
          </a:xfrm>
          <a:prstGeom prst="rect">
            <a:avLst/>
          </a:prstGeom>
        </p:spPr>
      </p:pic>
      <p:pic>
        <p:nvPicPr>
          <p:cNvPr id="8" name="Picture 7">
            <a:extLst>
              <a:ext uri="{FF2B5EF4-FFF2-40B4-BE49-F238E27FC236}">
                <a16:creationId xmlns:a16="http://schemas.microsoft.com/office/drawing/2014/main" id="{BAA99062-0F4A-47F2-5697-745FFD97259A}"/>
              </a:ext>
            </a:extLst>
          </p:cNvPr>
          <p:cNvPicPr>
            <a:picLocks noChangeAspect="1"/>
          </p:cNvPicPr>
          <p:nvPr/>
        </p:nvPicPr>
        <p:blipFill>
          <a:blip r:embed="rId5"/>
          <a:stretch>
            <a:fillRect/>
          </a:stretch>
        </p:blipFill>
        <p:spPr>
          <a:xfrm>
            <a:off x="4759464" y="1625168"/>
            <a:ext cx="4384536" cy="2438551"/>
          </a:xfrm>
          <a:prstGeom prst="rect">
            <a:avLst/>
          </a:prstGeom>
        </p:spPr>
      </p:pic>
    </p:spTree>
    <p:extLst>
      <p:ext uri="{BB962C8B-B14F-4D97-AF65-F5344CB8AC3E}">
        <p14:creationId xmlns:p14="http://schemas.microsoft.com/office/powerpoint/2010/main" val="3848212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TextBox 8">
            <a:extLst>
              <a:ext uri="{FF2B5EF4-FFF2-40B4-BE49-F238E27FC236}">
                <a16:creationId xmlns:a16="http://schemas.microsoft.com/office/drawing/2014/main" id="{9C275F9C-4843-D56E-F3BB-B434CAADA87B}"/>
              </a:ext>
            </a:extLst>
          </p:cNvPr>
          <p:cNvSpPr txBox="1"/>
          <p:nvPr/>
        </p:nvSpPr>
        <p:spPr>
          <a:xfrm>
            <a:off x="0" y="127412"/>
            <a:ext cx="9144000" cy="646331"/>
          </a:xfrm>
          <a:prstGeom prst="rect">
            <a:avLst/>
          </a:prstGeom>
          <a:noFill/>
        </p:spPr>
        <p:txBody>
          <a:bodyPr wrap="square" rtlCol="0">
            <a:spAutoFit/>
          </a:bodyPr>
          <a:lstStyle/>
          <a:p>
            <a:pPr algn="ctr"/>
            <a:r>
              <a:rPr lang="en-IN" sz="3600" b="1" u="sng" dirty="0">
                <a:solidFill>
                  <a:schemeClr val="tx1"/>
                </a:solidFill>
                <a:effectLst>
                  <a:outerShdw blurRad="38100" dist="38100" dir="2700000" algn="tl">
                    <a:srgbClr val="000000">
                      <a:alpha val="43137"/>
                    </a:srgbClr>
                  </a:outerShdw>
                </a:effectLst>
                <a:latin typeface="+mj-lt"/>
              </a:rPr>
              <a:t>Accuracy</a:t>
            </a:r>
          </a:p>
        </p:txBody>
      </p:sp>
      <p:sp>
        <p:nvSpPr>
          <p:cNvPr id="2" name="TextBox 1">
            <a:extLst>
              <a:ext uri="{FF2B5EF4-FFF2-40B4-BE49-F238E27FC236}">
                <a16:creationId xmlns:a16="http://schemas.microsoft.com/office/drawing/2014/main" id="{35735C99-2081-B88C-3E68-CEC528E49F65}"/>
              </a:ext>
            </a:extLst>
          </p:cNvPr>
          <p:cNvSpPr txBox="1"/>
          <p:nvPr/>
        </p:nvSpPr>
        <p:spPr>
          <a:xfrm>
            <a:off x="66908" y="1017718"/>
            <a:ext cx="4586868" cy="461665"/>
          </a:xfrm>
          <a:prstGeom prst="rect">
            <a:avLst/>
          </a:prstGeom>
          <a:noFill/>
        </p:spPr>
        <p:txBody>
          <a:bodyPr wrap="square">
            <a:spAutoFit/>
          </a:bodyPr>
          <a:lstStyle/>
          <a:p>
            <a:r>
              <a:rPr lang="en-IN" sz="2400" b="1" i="0" u="sng" dirty="0">
                <a:solidFill>
                  <a:srgbClr val="3C4043"/>
                </a:solidFill>
                <a:effectLst/>
                <a:highlight>
                  <a:srgbClr val="FFFFFF"/>
                </a:highlight>
                <a:latin typeface="+mj-lt"/>
              </a:rPr>
              <a:t>Alzheimer</a:t>
            </a:r>
            <a:endParaRPr lang="en-IN" u="sng" dirty="0"/>
          </a:p>
        </p:txBody>
      </p:sp>
      <p:sp>
        <p:nvSpPr>
          <p:cNvPr id="10" name="TextBox 9">
            <a:extLst>
              <a:ext uri="{FF2B5EF4-FFF2-40B4-BE49-F238E27FC236}">
                <a16:creationId xmlns:a16="http://schemas.microsoft.com/office/drawing/2014/main" id="{D3ABA896-6A87-599D-30EE-2723423A145B}"/>
              </a:ext>
            </a:extLst>
          </p:cNvPr>
          <p:cNvSpPr txBox="1"/>
          <p:nvPr/>
        </p:nvSpPr>
        <p:spPr>
          <a:xfrm>
            <a:off x="-14868" y="2896742"/>
            <a:ext cx="3114907" cy="461665"/>
          </a:xfrm>
          <a:prstGeom prst="rect">
            <a:avLst/>
          </a:prstGeom>
          <a:noFill/>
        </p:spPr>
        <p:txBody>
          <a:bodyPr wrap="square">
            <a:spAutoFit/>
          </a:bodyPr>
          <a:lstStyle/>
          <a:p>
            <a:r>
              <a:rPr lang="en-IN" sz="2400" b="1" u="sng" dirty="0">
                <a:solidFill>
                  <a:srgbClr val="202124"/>
                </a:solidFill>
                <a:effectLst/>
                <a:highlight>
                  <a:srgbClr val="FFFFFF"/>
                </a:highlight>
                <a:latin typeface="+mj-lt"/>
              </a:rPr>
              <a:t>Asthma</a:t>
            </a:r>
            <a:endParaRPr lang="en-IN" sz="2400" u="sng" dirty="0"/>
          </a:p>
        </p:txBody>
      </p:sp>
      <p:pic>
        <p:nvPicPr>
          <p:cNvPr id="12" name="Picture 11">
            <a:extLst>
              <a:ext uri="{FF2B5EF4-FFF2-40B4-BE49-F238E27FC236}">
                <a16:creationId xmlns:a16="http://schemas.microsoft.com/office/drawing/2014/main" id="{B620F539-0199-BE55-291A-CBB3F2146F45}"/>
              </a:ext>
            </a:extLst>
          </p:cNvPr>
          <p:cNvPicPr>
            <a:picLocks noChangeAspect="1"/>
          </p:cNvPicPr>
          <p:nvPr/>
        </p:nvPicPr>
        <p:blipFill>
          <a:blip r:embed="rId3"/>
          <a:stretch>
            <a:fillRect/>
          </a:stretch>
        </p:blipFill>
        <p:spPr>
          <a:xfrm>
            <a:off x="66908" y="1478497"/>
            <a:ext cx="9144000" cy="807155"/>
          </a:xfrm>
          <a:prstGeom prst="rect">
            <a:avLst/>
          </a:prstGeom>
        </p:spPr>
      </p:pic>
      <p:pic>
        <p:nvPicPr>
          <p:cNvPr id="15" name="Picture 14">
            <a:extLst>
              <a:ext uri="{FF2B5EF4-FFF2-40B4-BE49-F238E27FC236}">
                <a16:creationId xmlns:a16="http://schemas.microsoft.com/office/drawing/2014/main" id="{6DBFDDDC-9E53-7162-E531-38B5D6DA641F}"/>
              </a:ext>
            </a:extLst>
          </p:cNvPr>
          <p:cNvPicPr>
            <a:picLocks noChangeAspect="1"/>
          </p:cNvPicPr>
          <p:nvPr/>
        </p:nvPicPr>
        <p:blipFill>
          <a:blip r:embed="rId4"/>
          <a:stretch>
            <a:fillRect/>
          </a:stretch>
        </p:blipFill>
        <p:spPr>
          <a:xfrm>
            <a:off x="66908" y="3369210"/>
            <a:ext cx="9144000" cy="859547"/>
          </a:xfrm>
          <a:prstGeom prst="rect">
            <a:avLst/>
          </a:prstGeom>
        </p:spPr>
      </p:pic>
    </p:spTree>
    <p:extLst>
      <p:ext uri="{BB962C8B-B14F-4D97-AF65-F5344CB8AC3E}">
        <p14:creationId xmlns:p14="http://schemas.microsoft.com/office/powerpoint/2010/main" val="1679816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TextBox 8">
            <a:extLst>
              <a:ext uri="{FF2B5EF4-FFF2-40B4-BE49-F238E27FC236}">
                <a16:creationId xmlns:a16="http://schemas.microsoft.com/office/drawing/2014/main" id="{9C275F9C-4843-D56E-F3BB-B434CAADA87B}"/>
              </a:ext>
            </a:extLst>
          </p:cNvPr>
          <p:cNvSpPr txBox="1"/>
          <p:nvPr/>
        </p:nvSpPr>
        <p:spPr>
          <a:xfrm>
            <a:off x="0" y="127412"/>
            <a:ext cx="9144000" cy="646331"/>
          </a:xfrm>
          <a:prstGeom prst="rect">
            <a:avLst/>
          </a:prstGeom>
          <a:noFill/>
        </p:spPr>
        <p:txBody>
          <a:bodyPr wrap="square" rtlCol="0">
            <a:spAutoFit/>
          </a:bodyPr>
          <a:lstStyle/>
          <a:p>
            <a:pPr algn="ctr"/>
            <a:r>
              <a:rPr lang="en-IN" sz="3600" b="1" u="sng" dirty="0">
                <a:solidFill>
                  <a:schemeClr val="tx1"/>
                </a:solidFill>
                <a:effectLst>
                  <a:outerShdw blurRad="38100" dist="38100" dir="2700000" algn="tl">
                    <a:srgbClr val="000000">
                      <a:alpha val="43137"/>
                    </a:srgbClr>
                  </a:outerShdw>
                </a:effectLst>
                <a:latin typeface="+mj-lt"/>
              </a:rPr>
              <a:t>Accuracy</a:t>
            </a:r>
          </a:p>
        </p:txBody>
      </p:sp>
      <p:sp>
        <p:nvSpPr>
          <p:cNvPr id="4" name="TextBox 3">
            <a:extLst>
              <a:ext uri="{FF2B5EF4-FFF2-40B4-BE49-F238E27FC236}">
                <a16:creationId xmlns:a16="http://schemas.microsoft.com/office/drawing/2014/main" id="{744CF5D9-1FD8-388E-A114-C9CA4471D236}"/>
              </a:ext>
            </a:extLst>
          </p:cNvPr>
          <p:cNvSpPr txBox="1"/>
          <p:nvPr/>
        </p:nvSpPr>
        <p:spPr>
          <a:xfrm>
            <a:off x="-14868" y="1056046"/>
            <a:ext cx="4586868" cy="461665"/>
          </a:xfrm>
          <a:prstGeom prst="rect">
            <a:avLst/>
          </a:prstGeom>
          <a:noFill/>
        </p:spPr>
        <p:txBody>
          <a:bodyPr wrap="square">
            <a:spAutoFit/>
          </a:bodyPr>
          <a:lstStyle/>
          <a:p>
            <a:r>
              <a:rPr lang="en-IN" sz="2400" b="1" i="0" u="sng" dirty="0">
                <a:solidFill>
                  <a:srgbClr val="202124"/>
                </a:solidFill>
                <a:effectLst/>
                <a:highlight>
                  <a:srgbClr val="FFFFFF"/>
                </a:highlight>
                <a:latin typeface="+mj-lt"/>
              </a:rPr>
              <a:t>Diabetes</a:t>
            </a:r>
            <a:endParaRPr lang="en-IN" sz="2400" u="sng" dirty="0"/>
          </a:p>
        </p:txBody>
      </p:sp>
      <p:sp>
        <p:nvSpPr>
          <p:cNvPr id="7" name="TextBox 6">
            <a:extLst>
              <a:ext uri="{FF2B5EF4-FFF2-40B4-BE49-F238E27FC236}">
                <a16:creationId xmlns:a16="http://schemas.microsoft.com/office/drawing/2014/main" id="{A255B2EC-8518-6D6E-5676-A6EF09DC0F40}"/>
              </a:ext>
            </a:extLst>
          </p:cNvPr>
          <p:cNvSpPr txBox="1"/>
          <p:nvPr/>
        </p:nvSpPr>
        <p:spPr>
          <a:xfrm>
            <a:off x="0" y="3016373"/>
            <a:ext cx="3114907" cy="461665"/>
          </a:xfrm>
          <a:prstGeom prst="rect">
            <a:avLst/>
          </a:prstGeom>
          <a:noFill/>
        </p:spPr>
        <p:txBody>
          <a:bodyPr wrap="square">
            <a:spAutoFit/>
          </a:bodyPr>
          <a:lstStyle/>
          <a:p>
            <a:r>
              <a:rPr lang="en-IN" sz="2400" b="1" u="sng" dirty="0">
                <a:solidFill>
                  <a:srgbClr val="202124"/>
                </a:solidFill>
                <a:highlight>
                  <a:srgbClr val="FFFFFF"/>
                </a:highlight>
                <a:latin typeface="+mj-lt"/>
              </a:rPr>
              <a:t>Heart</a:t>
            </a:r>
            <a:endParaRPr lang="en-IN" sz="2400" u="sng" dirty="0"/>
          </a:p>
        </p:txBody>
      </p:sp>
      <p:pic>
        <p:nvPicPr>
          <p:cNvPr id="12" name="Picture 11">
            <a:extLst>
              <a:ext uri="{FF2B5EF4-FFF2-40B4-BE49-F238E27FC236}">
                <a16:creationId xmlns:a16="http://schemas.microsoft.com/office/drawing/2014/main" id="{4FE390F2-8A7E-C77B-18C1-C7D72575D8E1}"/>
              </a:ext>
            </a:extLst>
          </p:cNvPr>
          <p:cNvPicPr>
            <a:picLocks noChangeAspect="1"/>
          </p:cNvPicPr>
          <p:nvPr/>
        </p:nvPicPr>
        <p:blipFill>
          <a:blip r:embed="rId3"/>
          <a:stretch>
            <a:fillRect/>
          </a:stretch>
        </p:blipFill>
        <p:spPr>
          <a:xfrm>
            <a:off x="-14868" y="1517711"/>
            <a:ext cx="9144000" cy="1003402"/>
          </a:xfrm>
          <a:prstGeom prst="rect">
            <a:avLst/>
          </a:prstGeom>
        </p:spPr>
      </p:pic>
      <p:pic>
        <p:nvPicPr>
          <p:cNvPr id="15" name="Picture 14">
            <a:extLst>
              <a:ext uri="{FF2B5EF4-FFF2-40B4-BE49-F238E27FC236}">
                <a16:creationId xmlns:a16="http://schemas.microsoft.com/office/drawing/2014/main" id="{E4C894DB-4E62-3442-19BC-9F92024934D5}"/>
              </a:ext>
            </a:extLst>
          </p:cNvPr>
          <p:cNvPicPr>
            <a:picLocks noChangeAspect="1"/>
          </p:cNvPicPr>
          <p:nvPr/>
        </p:nvPicPr>
        <p:blipFill>
          <a:blip r:embed="rId4"/>
          <a:stretch>
            <a:fillRect/>
          </a:stretch>
        </p:blipFill>
        <p:spPr>
          <a:xfrm>
            <a:off x="0" y="3478038"/>
            <a:ext cx="9144000" cy="1087089"/>
          </a:xfrm>
          <a:prstGeom prst="rect">
            <a:avLst/>
          </a:prstGeom>
        </p:spPr>
      </p:pic>
    </p:spTree>
    <p:extLst>
      <p:ext uri="{BB962C8B-B14F-4D97-AF65-F5344CB8AC3E}">
        <p14:creationId xmlns:p14="http://schemas.microsoft.com/office/powerpoint/2010/main" val="2962452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TextBox 8">
            <a:extLst>
              <a:ext uri="{FF2B5EF4-FFF2-40B4-BE49-F238E27FC236}">
                <a16:creationId xmlns:a16="http://schemas.microsoft.com/office/drawing/2014/main" id="{9C275F9C-4843-D56E-F3BB-B434CAADA87B}"/>
              </a:ext>
            </a:extLst>
          </p:cNvPr>
          <p:cNvSpPr txBox="1"/>
          <p:nvPr/>
        </p:nvSpPr>
        <p:spPr>
          <a:xfrm>
            <a:off x="0" y="127412"/>
            <a:ext cx="9144000" cy="646331"/>
          </a:xfrm>
          <a:prstGeom prst="rect">
            <a:avLst/>
          </a:prstGeom>
          <a:noFill/>
        </p:spPr>
        <p:txBody>
          <a:bodyPr wrap="square" rtlCol="0">
            <a:spAutoFit/>
          </a:bodyPr>
          <a:lstStyle/>
          <a:p>
            <a:pPr algn="ctr"/>
            <a:r>
              <a:rPr lang="en-IN" sz="3600" b="1" u="sng" dirty="0">
                <a:solidFill>
                  <a:schemeClr val="tx1"/>
                </a:solidFill>
                <a:effectLst>
                  <a:outerShdw blurRad="38100" dist="38100" dir="2700000" algn="tl">
                    <a:srgbClr val="000000">
                      <a:alpha val="43137"/>
                    </a:srgbClr>
                  </a:outerShdw>
                </a:effectLst>
                <a:latin typeface="+mj-lt"/>
              </a:rPr>
              <a:t>Accuracy</a:t>
            </a:r>
          </a:p>
        </p:txBody>
      </p:sp>
      <p:sp>
        <p:nvSpPr>
          <p:cNvPr id="13" name="TextBox 12">
            <a:extLst>
              <a:ext uri="{FF2B5EF4-FFF2-40B4-BE49-F238E27FC236}">
                <a16:creationId xmlns:a16="http://schemas.microsoft.com/office/drawing/2014/main" id="{EEABB22F-2CF0-A4DB-FB70-AFA5F1088FDB}"/>
              </a:ext>
            </a:extLst>
          </p:cNvPr>
          <p:cNvSpPr txBox="1"/>
          <p:nvPr/>
        </p:nvSpPr>
        <p:spPr>
          <a:xfrm>
            <a:off x="-14868" y="899715"/>
            <a:ext cx="4586868" cy="584775"/>
          </a:xfrm>
          <a:prstGeom prst="rect">
            <a:avLst/>
          </a:prstGeom>
          <a:noFill/>
        </p:spPr>
        <p:txBody>
          <a:bodyPr wrap="square">
            <a:spAutoFit/>
          </a:bodyPr>
          <a:lstStyle/>
          <a:p>
            <a:r>
              <a:rPr lang="en-US" sz="2400" b="1" i="0" u="sng" dirty="0">
                <a:solidFill>
                  <a:srgbClr val="202124"/>
                </a:solidFill>
                <a:effectLst/>
                <a:highlight>
                  <a:srgbClr val="FFFFFF"/>
                </a:highlight>
                <a:latin typeface="+mj-lt"/>
              </a:rPr>
              <a:t>Chronic</a:t>
            </a:r>
            <a:r>
              <a:rPr lang="en-US" sz="3200" b="1" i="0" u="sng" dirty="0">
                <a:solidFill>
                  <a:srgbClr val="202124"/>
                </a:solidFill>
                <a:effectLst/>
                <a:highlight>
                  <a:srgbClr val="FFFFFF"/>
                </a:highlight>
                <a:latin typeface="+mj-lt"/>
              </a:rPr>
              <a:t> </a:t>
            </a:r>
            <a:r>
              <a:rPr lang="en-US" sz="2400" b="1" i="0" u="sng" dirty="0">
                <a:solidFill>
                  <a:srgbClr val="202124"/>
                </a:solidFill>
                <a:effectLst/>
                <a:highlight>
                  <a:srgbClr val="FFFFFF"/>
                </a:highlight>
                <a:latin typeface="+mj-lt"/>
              </a:rPr>
              <a:t>Kidney</a:t>
            </a:r>
            <a:endParaRPr lang="en-IN" sz="2400" u="sng" dirty="0"/>
          </a:p>
        </p:txBody>
      </p:sp>
      <p:sp>
        <p:nvSpPr>
          <p:cNvPr id="21" name="TextBox 20">
            <a:extLst>
              <a:ext uri="{FF2B5EF4-FFF2-40B4-BE49-F238E27FC236}">
                <a16:creationId xmlns:a16="http://schemas.microsoft.com/office/drawing/2014/main" id="{E11B2428-C930-C32B-D8E2-A17D66855E2C}"/>
              </a:ext>
            </a:extLst>
          </p:cNvPr>
          <p:cNvSpPr txBox="1"/>
          <p:nvPr/>
        </p:nvSpPr>
        <p:spPr>
          <a:xfrm>
            <a:off x="-14868" y="3098835"/>
            <a:ext cx="3114907" cy="461665"/>
          </a:xfrm>
          <a:prstGeom prst="rect">
            <a:avLst/>
          </a:prstGeom>
          <a:noFill/>
        </p:spPr>
        <p:txBody>
          <a:bodyPr wrap="square">
            <a:spAutoFit/>
          </a:bodyPr>
          <a:lstStyle/>
          <a:p>
            <a:r>
              <a:rPr lang="en-IN" sz="2400" b="1" i="0" u="sng" dirty="0">
                <a:solidFill>
                  <a:srgbClr val="202124"/>
                </a:solidFill>
                <a:effectLst/>
                <a:highlight>
                  <a:srgbClr val="FFFFFF"/>
                </a:highlight>
                <a:latin typeface="+mj-lt"/>
              </a:rPr>
              <a:t>Liver</a:t>
            </a:r>
            <a:endParaRPr lang="en-IN" sz="2400" u="sng" dirty="0"/>
          </a:p>
        </p:txBody>
      </p:sp>
      <p:pic>
        <p:nvPicPr>
          <p:cNvPr id="3" name="Picture 2">
            <a:extLst>
              <a:ext uri="{FF2B5EF4-FFF2-40B4-BE49-F238E27FC236}">
                <a16:creationId xmlns:a16="http://schemas.microsoft.com/office/drawing/2014/main" id="{53635076-0AA0-BA94-56DF-33F19A947083}"/>
              </a:ext>
            </a:extLst>
          </p:cNvPr>
          <p:cNvPicPr>
            <a:picLocks noChangeAspect="1"/>
          </p:cNvPicPr>
          <p:nvPr/>
        </p:nvPicPr>
        <p:blipFill>
          <a:blip r:embed="rId3"/>
          <a:stretch>
            <a:fillRect/>
          </a:stretch>
        </p:blipFill>
        <p:spPr>
          <a:xfrm>
            <a:off x="0" y="1493634"/>
            <a:ext cx="9144000" cy="1157974"/>
          </a:xfrm>
          <a:prstGeom prst="rect">
            <a:avLst/>
          </a:prstGeom>
        </p:spPr>
      </p:pic>
      <p:pic>
        <p:nvPicPr>
          <p:cNvPr id="6" name="Picture 5">
            <a:extLst>
              <a:ext uri="{FF2B5EF4-FFF2-40B4-BE49-F238E27FC236}">
                <a16:creationId xmlns:a16="http://schemas.microsoft.com/office/drawing/2014/main" id="{B34FA2BA-F0E3-DA16-E2E6-3A0CBAD4F693}"/>
              </a:ext>
            </a:extLst>
          </p:cNvPr>
          <p:cNvPicPr>
            <a:picLocks noChangeAspect="1"/>
          </p:cNvPicPr>
          <p:nvPr/>
        </p:nvPicPr>
        <p:blipFill>
          <a:blip r:embed="rId4"/>
          <a:stretch>
            <a:fillRect/>
          </a:stretch>
        </p:blipFill>
        <p:spPr>
          <a:xfrm>
            <a:off x="0" y="3607196"/>
            <a:ext cx="9144000" cy="921224"/>
          </a:xfrm>
          <a:prstGeom prst="rect">
            <a:avLst/>
          </a:prstGeom>
        </p:spPr>
      </p:pic>
    </p:spTree>
    <p:extLst>
      <p:ext uri="{BB962C8B-B14F-4D97-AF65-F5344CB8AC3E}">
        <p14:creationId xmlns:p14="http://schemas.microsoft.com/office/powerpoint/2010/main" val="528942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TextBox 8">
            <a:extLst>
              <a:ext uri="{FF2B5EF4-FFF2-40B4-BE49-F238E27FC236}">
                <a16:creationId xmlns:a16="http://schemas.microsoft.com/office/drawing/2014/main" id="{9C275F9C-4843-D56E-F3BB-B434CAADA87B}"/>
              </a:ext>
            </a:extLst>
          </p:cNvPr>
          <p:cNvSpPr txBox="1"/>
          <p:nvPr/>
        </p:nvSpPr>
        <p:spPr>
          <a:xfrm>
            <a:off x="0" y="127412"/>
            <a:ext cx="9144000" cy="646331"/>
          </a:xfrm>
          <a:prstGeom prst="rect">
            <a:avLst/>
          </a:prstGeom>
          <a:noFill/>
        </p:spPr>
        <p:txBody>
          <a:bodyPr wrap="square" rtlCol="0">
            <a:spAutoFit/>
          </a:bodyPr>
          <a:lstStyle/>
          <a:p>
            <a:pPr algn="ctr"/>
            <a:r>
              <a:rPr lang="en-IN" sz="3600" b="1" u="sng" dirty="0">
                <a:solidFill>
                  <a:schemeClr val="tx1"/>
                </a:solidFill>
                <a:effectLst>
                  <a:outerShdw blurRad="38100" dist="38100" dir="2700000" algn="tl">
                    <a:srgbClr val="000000">
                      <a:alpha val="43137"/>
                    </a:srgbClr>
                  </a:outerShdw>
                </a:effectLst>
                <a:latin typeface="+mj-lt"/>
              </a:rPr>
              <a:t>Output </a:t>
            </a:r>
          </a:p>
        </p:txBody>
      </p:sp>
      <p:sp>
        <p:nvSpPr>
          <p:cNvPr id="2" name="TextBox 1">
            <a:extLst>
              <a:ext uri="{FF2B5EF4-FFF2-40B4-BE49-F238E27FC236}">
                <a16:creationId xmlns:a16="http://schemas.microsoft.com/office/drawing/2014/main" id="{9110B68F-837D-9DE7-42DA-B9A1AFEC27C8}"/>
              </a:ext>
            </a:extLst>
          </p:cNvPr>
          <p:cNvSpPr txBox="1"/>
          <p:nvPr/>
        </p:nvSpPr>
        <p:spPr>
          <a:xfrm>
            <a:off x="0" y="773743"/>
            <a:ext cx="1441420" cy="369332"/>
          </a:xfrm>
          <a:prstGeom prst="rect">
            <a:avLst/>
          </a:prstGeom>
          <a:noFill/>
        </p:spPr>
        <p:txBody>
          <a:bodyPr wrap="none" rtlCol="0">
            <a:spAutoFit/>
          </a:bodyPr>
          <a:lstStyle/>
          <a:p>
            <a:r>
              <a:rPr lang="en-US" sz="1800" b="1" u="sng" dirty="0"/>
              <a:t>Home Page</a:t>
            </a:r>
            <a:endParaRPr lang="en-IN" sz="1800" b="1" u="sng" dirty="0"/>
          </a:p>
        </p:txBody>
      </p:sp>
      <p:pic>
        <p:nvPicPr>
          <p:cNvPr id="5" name="Picture 4">
            <a:extLst>
              <a:ext uri="{FF2B5EF4-FFF2-40B4-BE49-F238E27FC236}">
                <a16:creationId xmlns:a16="http://schemas.microsoft.com/office/drawing/2014/main" id="{090635D2-FB1E-5FAA-3A4E-CF31F37971E9}"/>
              </a:ext>
            </a:extLst>
          </p:cNvPr>
          <p:cNvPicPr>
            <a:picLocks noChangeAspect="1"/>
          </p:cNvPicPr>
          <p:nvPr/>
        </p:nvPicPr>
        <p:blipFill>
          <a:blip r:embed="rId3"/>
          <a:stretch>
            <a:fillRect/>
          </a:stretch>
        </p:blipFill>
        <p:spPr>
          <a:xfrm>
            <a:off x="156116" y="1143074"/>
            <a:ext cx="8809463" cy="3833625"/>
          </a:xfrm>
          <a:prstGeom prst="rect">
            <a:avLst/>
          </a:prstGeom>
        </p:spPr>
      </p:pic>
    </p:spTree>
    <p:extLst>
      <p:ext uri="{BB962C8B-B14F-4D97-AF65-F5344CB8AC3E}">
        <p14:creationId xmlns:p14="http://schemas.microsoft.com/office/powerpoint/2010/main" val="621748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TextBox 8">
            <a:extLst>
              <a:ext uri="{FF2B5EF4-FFF2-40B4-BE49-F238E27FC236}">
                <a16:creationId xmlns:a16="http://schemas.microsoft.com/office/drawing/2014/main" id="{9C275F9C-4843-D56E-F3BB-B434CAADA87B}"/>
              </a:ext>
            </a:extLst>
          </p:cNvPr>
          <p:cNvSpPr txBox="1"/>
          <p:nvPr/>
        </p:nvSpPr>
        <p:spPr>
          <a:xfrm>
            <a:off x="6766560" y="3696950"/>
            <a:ext cx="2377440" cy="1446550"/>
          </a:xfrm>
          <a:prstGeom prst="rect">
            <a:avLst/>
          </a:prstGeom>
          <a:noFill/>
        </p:spPr>
        <p:txBody>
          <a:bodyPr wrap="square" rtlCol="0">
            <a:spAutoFit/>
          </a:bodyPr>
          <a:lstStyle/>
          <a:p>
            <a:pPr algn="ctr"/>
            <a:r>
              <a:rPr lang="en-IN" sz="2400" b="1" u="sng" dirty="0">
                <a:solidFill>
                  <a:schemeClr val="tx1"/>
                </a:solidFill>
                <a:effectLst>
                  <a:outerShdw blurRad="38100" dist="38100" dir="2700000" algn="tl">
                    <a:srgbClr val="000000">
                      <a:alpha val="43137"/>
                    </a:srgbClr>
                  </a:outerShdw>
                </a:effectLst>
                <a:latin typeface="+mj-lt"/>
              </a:rPr>
              <a:t>Result: </a:t>
            </a:r>
          </a:p>
          <a:p>
            <a:pPr algn="ctr"/>
            <a:r>
              <a:rPr lang="en-IN" sz="2000" b="1" i="0" dirty="0">
                <a:solidFill>
                  <a:schemeClr val="tx1"/>
                </a:solidFill>
                <a:effectLst/>
                <a:highlight>
                  <a:srgbClr val="FFFFFF"/>
                </a:highlight>
                <a:latin typeface="+mj-lt"/>
              </a:rPr>
              <a:t>Patient has </a:t>
            </a:r>
            <a:r>
              <a:rPr lang="en-IN" sz="2000" b="1" dirty="0">
                <a:solidFill>
                  <a:schemeClr val="tx1"/>
                </a:solidFill>
                <a:highlight>
                  <a:srgbClr val="FFFFFF"/>
                </a:highlight>
                <a:latin typeface="+mj-lt"/>
              </a:rPr>
              <a:t>Alzheimer</a:t>
            </a:r>
            <a:endParaRPr lang="en-IN" sz="2000" b="1" i="0" dirty="0">
              <a:solidFill>
                <a:schemeClr val="tx1"/>
              </a:solidFill>
              <a:effectLst/>
              <a:highlight>
                <a:srgbClr val="FFFFFF"/>
              </a:highlight>
              <a:latin typeface="+mj-lt"/>
            </a:endParaRPr>
          </a:p>
          <a:p>
            <a:pPr algn="ctr"/>
            <a:r>
              <a:rPr lang="en-IN" sz="2400" b="1" u="sng" dirty="0">
                <a:solidFill>
                  <a:schemeClr val="tx1"/>
                </a:solidFill>
                <a:effectLst>
                  <a:outerShdw blurRad="38100" dist="38100" dir="2700000" algn="tl">
                    <a:srgbClr val="000000">
                      <a:alpha val="43137"/>
                    </a:srgbClr>
                  </a:outerShdw>
                </a:effectLst>
                <a:latin typeface="+mj-lt"/>
              </a:rPr>
              <a:t> </a:t>
            </a:r>
          </a:p>
        </p:txBody>
      </p:sp>
      <p:pic>
        <p:nvPicPr>
          <p:cNvPr id="4" name="Picture 3">
            <a:extLst>
              <a:ext uri="{FF2B5EF4-FFF2-40B4-BE49-F238E27FC236}">
                <a16:creationId xmlns:a16="http://schemas.microsoft.com/office/drawing/2014/main" id="{166F15AE-BDA8-1204-F1E2-DF8C79F39EEB}"/>
              </a:ext>
            </a:extLst>
          </p:cNvPr>
          <p:cNvPicPr>
            <a:picLocks noChangeAspect="1"/>
          </p:cNvPicPr>
          <p:nvPr/>
        </p:nvPicPr>
        <p:blipFill>
          <a:blip r:embed="rId3"/>
          <a:stretch>
            <a:fillRect/>
          </a:stretch>
        </p:blipFill>
        <p:spPr>
          <a:xfrm>
            <a:off x="0" y="57939"/>
            <a:ext cx="6871763" cy="4865188"/>
          </a:xfrm>
          <a:prstGeom prst="rect">
            <a:avLst/>
          </a:prstGeom>
        </p:spPr>
      </p:pic>
    </p:spTree>
    <p:extLst>
      <p:ext uri="{BB962C8B-B14F-4D97-AF65-F5344CB8AC3E}">
        <p14:creationId xmlns:p14="http://schemas.microsoft.com/office/powerpoint/2010/main" val="504922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TextBox 8">
            <a:extLst>
              <a:ext uri="{FF2B5EF4-FFF2-40B4-BE49-F238E27FC236}">
                <a16:creationId xmlns:a16="http://schemas.microsoft.com/office/drawing/2014/main" id="{9C275F9C-4843-D56E-F3BB-B434CAADA87B}"/>
              </a:ext>
            </a:extLst>
          </p:cNvPr>
          <p:cNvSpPr txBox="1"/>
          <p:nvPr/>
        </p:nvSpPr>
        <p:spPr>
          <a:xfrm>
            <a:off x="7151649" y="3037708"/>
            <a:ext cx="1940312" cy="1938992"/>
          </a:xfrm>
          <a:prstGeom prst="rect">
            <a:avLst/>
          </a:prstGeom>
          <a:noFill/>
        </p:spPr>
        <p:txBody>
          <a:bodyPr wrap="square" rtlCol="0">
            <a:spAutoFit/>
          </a:bodyPr>
          <a:lstStyle/>
          <a:p>
            <a:pPr algn="ctr"/>
            <a:r>
              <a:rPr lang="en-IN" sz="2400" b="1" u="sng" dirty="0">
                <a:solidFill>
                  <a:schemeClr val="tx1"/>
                </a:solidFill>
                <a:effectLst>
                  <a:outerShdw blurRad="38100" dist="38100" dir="2700000" algn="tl">
                    <a:srgbClr val="000000">
                      <a:alpha val="43137"/>
                    </a:srgbClr>
                  </a:outerShdw>
                </a:effectLst>
                <a:latin typeface="+mj-lt"/>
              </a:rPr>
              <a:t>Result: </a:t>
            </a:r>
          </a:p>
          <a:p>
            <a:pPr algn="ctr"/>
            <a:r>
              <a:rPr lang="en-IN" sz="2400" b="1" i="0" dirty="0">
                <a:solidFill>
                  <a:srgbClr val="333333"/>
                </a:solidFill>
                <a:effectLst/>
                <a:highlight>
                  <a:srgbClr val="FFFFFF"/>
                </a:highlight>
                <a:latin typeface="Arial" panose="020B0604020202020204" pitchFamily="34" charset="0"/>
              </a:rPr>
              <a:t>Patient don't have Asthma</a:t>
            </a:r>
          </a:p>
          <a:p>
            <a:pPr algn="ctr"/>
            <a:r>
              <a:rPr lang="en-IN" sz="2400" b="1" u="sng" dirty="0">
                <a:solidFill>
                  <a:schemeClr val="tx1"/>
                </a:solidFill>
                <a:effectLst>
                  <a:outerShdw blurRad="38100" dist="38100" dir="2700000" algn="tl">
                    <a:srgbClr val="000000">
                      <a:alpha val="43137"/>
                    </a:srgbClr>
                  </a:outerShdw>
                </a:effectLst>
                <a:latin typeface="+mj-lt"/>
              </a:rPr>
              <a:t> </a:t>
            </a:r>
          </a:p>
        </p:txBody>
      </p:sp>
      <p:pic>
        <p:nvPicPr>
          <p:cNvPr id="3" name="Picture 2">
            <a:extLst>
              <a:ext uri="{FF2B5EF4-FFF2-40B4-BE49-F238E27FC236}">
                <a16:creationId xmlns:a16="http://schemas.microsoft.com/office/drawing/2014/main" id="{356B2135-DE7A-F3D8-02F5-471E6D40C612}"/>
              </a:ext>
            </a:extLst>
          </p:cNvPr>
          <p:cNvPicPr>
            <a:picLocks noChangeAspect="1"/>
          </p:cNvPicPr>
          <p:nvPr/>
        </p:nvPicPr>
        <p:blipFill>
          <a:blip r:embed="rId3"/>
          <a:stretch>
            <a:fillRect/>
          </a:stretch>
        </p:blipFill>
        <p:spPr>
          <a:xfrm>
            <a:off x="0" y="66908"/>
            <a:ext cx="7151649" cy="4809892"/>
          </a:xfrm>
          <a:prstGeom prst="rect">
            <a:avLst/>
          </a:prstGeom>
        </p:spPr>
      </p:pic>
    </p:spTree>
    <p:extLst>
      <p:ext uri="{BB962C8B-B14F-4D97-AF65-F5344CB8AC3E}">
        <p14:creationId xmlns:p14="http://schemas.microsoft.com/office/powerpoint/2010/main" val="936341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TextBox 8">
            <a:extLst>
              <a:ext uri="{FF2B5EF4-FFF2-40B4-BE49-F238E27FC236}">
                <a16:creationId xmlns:a16="http://schemas.microsoft.com/office/drawing/2014/main" id="{9C275F9C-4843-D56E-F3BB-B434CAADA87B}"/>
              </a:ext>
            </a:extLst>
          </p:cNvPr>
          <p:cNvSpPr txBox="1"/>
          <p:nvPr/>
        </p:nvSpPr>
        <p:spPr>
          <a:xfrm>
            <a:off x="6952414" y="3450730"/>
            <a:ext cx="2191586" cy="1569660"/>
          </a:xfrm>
          <a:prstGeom prst="rect">
            <a:avLst/>
          </a:prstGeom>
          <a:noFill/>
        </p:spPr>
        <p:txBody>
          <a:bodyPr wrap="square" rtlCol="0">
            <a:spAutoFit/>
          </a:bodyPr>
          <a:lstStyle/>
          <a:p>
            <a:pPr algn="ctr"/>
            <a:r>
              <a:rPr lang="en-IN" sz="2400" b="1" u="sng" dirty="0">
                <a:solidFill>
                  <a:schemeClr val="tx1"/>
                </a:solidFill>
                <a:effectLst>
                  <a:outerShdw blurRad="38100" dist="38100" dir="2700000" algn="tl">
                    <a:srgbClr val="000000">
                      <a:alpha val="43137"/>
                    </a:srgbClr>
                  </a:outerShdw>
                </a:effectLst>
                <a:latin typeface="+mj-lt"/>
              </a:rPr>
              <a:t>Result: </a:t>
            </a:r>
          </a:p>
          <a:p>
            <a:pPr algn="ctr"/>
            <a:r>
              <a:rPr lang="en-IN" sz="2400" b="1" i="0" dirty="0">
                <a:solidFill>
                  <a:srgbClr val="000000"/>
                </a:solidFill>
                <a:effectLst/>
                <a:highlight>
                  <a:srgbClr val="FFFFFF"/>
                </a:highlight>
                <a:latin typeface="Times New Roman" panose="02020603050405020304" pitchFamily="18" charset="0"/>
              </a:rPr>
              <a:t>Patient is Diabetic</a:t>
            </a:r>
          </a:p>
          <a:p>
            <a:pPr algn="ctr"/>
            <a:r>
              <a:rPr lang="en-IN" sz="2400" b="1" u="sng" dirty="0">
                <a:solidFill>
                  <a:schemeClr val="tx1"/>
                </a:solidFill>
                <a:effectLst>
                  <a:outerShdw blurRad="38100" dist="38100" dir="2700000" algn="tl">
                    <a:srgbClr val="000000">
                      <a:alpha val="43137"/>
                    </a:srgbClr>
                  </a:outerShdw>
                </a:effectLst>
                <a:latin typeface="+mj-lt"/>
              </a:rPr>
              <a:t> </a:t>
            </a:r>
          </a:p>
        </p:txBody>
      </p:sp>
      <p:pic>
        <p:nvPicPr>
          <p:cNvPr id="3" name="Picture 2">
            <a:extLst>
              <a:ext uri="{FF2B5EF4-FFF2-40B4-BE49-F238E27FC236}">
                <a16:creationId xmlns:a16="http://schemas.microsoft.com/office/drawing/2014/main" id="{FCD9C6B0-6513-16FB-BA35-BB9F0D0D7704}"/>
              </a:ext>
            </a:extLst>
          </p:cNvPr>
          <p:cNvPicPr>
            <a:picLocks noChangeAspect="1"/>
          </p:cNvPicPr>
          <p:nvPr/>
        </p:nvPicPr>
        <p:blipFill>
          <a:blip r:embed="rId3"/>
          <a:stretch>
            <a:fillRect/>
          </a:stretch>
        </p:blipFill>
        <p:spPr>
          <a:xfrm>
            <a:off x="1" y="123110"/>
            <a:ext cx="7196254" cy="4730481"/>
          </a:xfrm>
          <a:prstGeom prst="rect">
            <a:avLst/>
          </a:prstGeom>
        </p:spPr>
      </p:pic>
    </p:spTree>
    <p:extLst>
      <p:ext uri="{BB962C8B-B14F-4D97-AF65-F5344CB8AC3E}">
        <p14:creationId xmlns:p14="http://schemas.microsoft.com/office/powerpoint/2010/main" val="2274706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TextBox 8">
            <a:extLst>
              <a:ext uri="{FF2B5EF4-FFF2-40B4-BE49-F238E27FC236}">
                <a16:creationId xmlns:a16="http://schemas.microsoft.com/office/drawing/2014/main" id="{9C275F9C-4843-D56E-F3BB-B434CAADA87B}"/>
              </a:ext>
            </a:extLst>
          </p:cNvPr>
          <p:cNvSpPr txBox="1"/>
          <p:nvPr/>
        </p:nvSpPr>
        <p:spPr>
          <a:xfrm>
            <a:off x="6831980" y="3019842"/>
            <a:ext cx="2096430" cy="1938992"/>
          </a:xfrm>
          <a:prstGeom prst="rect">
            <a:avLst/>
          </a:prstGeom>
          <a:noFill/>
        </p:spPr>
        <p:txBody>
          <a:bodyPr wrap="square" rtlCol="0">
            <a:spAutoFit/>
          </a:bodyPr>
          <a:lstStyle/>
          <a:p>
            <a:pPr algn="ctr"/>
            <a:r>
              <a:rPr lang="en-IN" sz="2400" b="1" u="sng" dirty="0">
                <a:solidFill>
                  <a:schemeClr val="tx1"/>
                </a:solidFill>
                <a:effectLst>
                  <a:outerShdw blurRad="38100" dist="38100" dir="2700000" algn="tl">
                    <a:srgbClr val="000000">
                      <a:alpha val="43137"/>
                    </a:srgbClr>
                  </a:outerShdw>
                </a:effectLst>
                <a:latin typeface="+mj-lt"/>
              </a:rPr>
              <a:t>Result: </a:t>
            </a:r>
          </a:p>
          <a:p>
            <a:pPr algn="ctr"/>
            <a:r>
              <a:rPr lang="en-US" sz="2400" b="1" i="0" dirty="0">
                <a:solidFill>
                  <a:srgbClr val="000000"/>
                </a:solidFill>
                <a:effectLst/>
                <a:highlight>
                  <a:srgbClr val="FFFFFF"/>
                </a:highlight>
                <a:latin typeface="Arial" panose="020B0604020202020204" pitchFamily="34" charset="0"/>
              </a:rPr>
              <a:t>Patient is safe from heart attack</a:t>
            </a:r>
          </a:p>
          <a:p>
            <a:pPr algn="ctr"/>
            <a:r>
              <a:rPr lang="en-IN" sz="2400" b="1" u="sng" dirty="0">
                <a:solidFill>
                  <a:schemeClr val="tx1"/>
                </a:solidFill>
                <a:effectLst>
                  <a:outerShdw blurRad="38100" dist="38100" dir="2700000" algn="tl">
                    <a:srgbClr val="000000">
                      <a:alpha val="43137"/>
                    </a:srgbClr>
                  </a:outerShdw>
                </a:effectLst>
                <a:latin typeface="+mj-lt"/>
              </a:rPr>
              <a:t> </a:t>
            </a:r>
          </a:p>
        </p:txBody>
      </p:sp>
      <p:pic>
        <p:nvPicPr>
          <p:cNvPr id="3" name="Picture 2">
            <a:extLst>
              <a:ext uri="{FF2B5EF4-FFF2-40B4-BE49-F238E27FC236}">
                <a16:creationId xmlns:a16="http://schemas.microsoft.com/office/drawing/2014/main" id="{9DE6678C-EE3A-F933-674F-CC8A1F444763}"/>
              </a:ext>
            </a:extLst>
          </p:cNvPr>
          <p:cNvPicPr>
            <a:picLocks noChangeAspect="1"/>
          </p:cNvPicPr>
          <p:nvPr/>
        </p:nvPicPr>
        <p:blipFill>
          <a:blip r:embed="rId3"/>
          <a:stretch>
            <a:fillRect/>
          </a:stretch>
        </p:blipFill>
        <p:spPr>
          <a:xfrm>
            <a:off x="0" y="66907"/>
            <a:ext cx="6831980" cy="4809893"/>
          </a:xfrm>
          <a:prstGeom prst="rect">
            <a:avLst/>
          </a:prstGeom>
        </p:spPr>
      </p:pic>
    </p:spTree>
    <p:extLst>
      <p:ext uri="{BB962C8B-B14F-4D97-AF65-F5344CB8AC3E}">
        <p14:creationId xmlns:p14="http://schemas.microsoft.com/office/powerpoint/2010/main" val="2787820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TextBox 8">
            <a:extLst>
              <a:ext uri="{FF2B5EF4-FFF2-40B4-BE49-F238E27FC236}">
                <a16:creationId xmlns:a16="http://schemas.microsoft.com/office/drawing/2014/main" id="{9C275F9C-4843-D56E-F3BB-B434CAADA87B}"/>
              </a:ext>
            </a:extLst>
          </p:cNvPr>
          <p:cNvSpPr txBox="1"/>
          <p:nvPr/>
        </p:nvSpPr>
        <p:spPr>
          <a:xfrm>
            <a:off x="6974716" y="2871760"/>
            <a:ext cx="2109811" cy="1938992"/>
          </a:xfrm>
          <a:prstGeom prst="rect">
            <a:avLst/>
          </a:prstGeom>
          <a:noFill/>
        </p:spPr>
        <p:txBody>
          <a:bodyPr wrap="square" rtlCol="0">
            <a:spAutoFit/>
          </a:bodyPr>
          <a:lstStyle/>
          <a:p>
            <a:pPr algn="ctr"/>
            <a:r>
              <a:rPr lang="en-IN" sz="2400" b="1" u="sng" dirty="0">
                <a:solidFill>
                  <a:schemeClr val="tx1"/>
                </a:solidFill>
                <a:effectLst>
                  <a:outerShdw blurRad="38100" dist="38100" dir="2700000" algn="tl">
                    <a:srgbClr val="000000">
                      <a:alpha val="43137"/>
                    </a:srgbClr>
                  </a:outerShdw>
                </a:effectLst>
                <a:latin typeface="+mj-lt"/>
              </a:rPr>
              <a:t>Result: </a:t>
            </a:r>
          </a:p>
          <a:p>
            <a:pPr algn="ctr"/>
            <a:r>
              <a:rPr lang="en-IN" sz="2400" b="1" i="0" dirty="0">
                <a:solidFill>
                  <a:srgbClr val="000000"/>
                </a:solidFill>
                <a:effectLst/>
                <a:highlight>
                  <a:srgbClr val="FFFFFF"/>
                </a:highlight>
                <a:latin typeface="Arial" panose="020B0604020202020204" pitchFamily="34" charset="0"/>
              </a:rPr>
              <a:t>Patient has Chronic kidney</a:t>
            </a:r>
          </a:p>
          <a:p>
            <a:pPr algn="ctr"/>
            <a:r>
              <a:rPr lang="en-IN" sz="2400" b="1" u="sng" dirty="0">
                <a:solidFill>
                  <a:schemeClr val="tx1"/>
                </a:solidFill>
                <a:effectLst>
                  <a:outerShdw blurRad="38100" dist="38100" dir="2700000" algn="tl">
                    <a:srgbClr val="000000">
                      <a:alpha val="43137"/>
                    </a:srgbClr>
                  </a:outerShdw>
                </a:effectLst>
                <a:latin typeface="+mj-lt"/>
              </a:rPr>
              <a:t> </a:t>
            </a:r>
          </a:p>
        </p:txBody>
      </p:sp>
      <p:pic>
        <p:nvPicPr>
          <p:cNvPr id="3" name="Picture 2">
            <a:extLst>
              <a:ext uri="{FF2B5EF4-FFF2-40B4-BE49-F238E27FC236}">
                <a16:creationId xmlns:a16="http://schemas.microsoft.com/office/drawing/2014/main" id="{C9CBA0AD-CEB7-41DE-BB50-3BB65E2936D8}"/>
              </a:ext>
            </a:extLst>
          </p:cNvPr>
          <p:cNvPicPr>
            <a:picLocks noChangeAspect="1"/>
          </p:cNvPicPr>
          <p:nvPr/>
        </p:nvPicPr>
        <p:blipFill>
          <a:blip r:embed="rId3"/>
          <a:stretch>
            <a:fillRect/>
          </a:stretch>
        </p:blipFill>
        <p:spPr>
          <a:xfrm>
            <a:off x="0" y="74341"/>
            <a:ext cx="6948237" cy="4736411"/>
          </a:xfrm>
          <a:prstGeom prst="rect">
            <a:avLst/>
          </a:prstGeom>
        </p:spPr>
      </p:pic>
    </p:spTree>
    <p:extLst>
      <p:ext uri="{BB962C8B-B14F-4D97-AF65-F5344CB8AC3E}">
        <p14:creationId xmlns:p14="http://schemas.microsoft.com/office/powerpoint/2010/main" val="5250456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p19"/>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TextBox 8">
            <a:extLst>
              <a:ext uri="{FF2B5EF4-FFF2-40B4-BE49-F238E27FC236}">
                <a16:creationId xmlns:a16="http://schemas.microsoft.com/office/drawing/2014/main" id="{9C275F9C-4843-D56E-F3BB-B434CAADA87B}"/>
              </a:ext>
            </a:extLst>
          </p:cNvPr>
          <p:cNvSpPr txBox="1"/>
          <p:nvPr/>
        </p:nvSpPr>
        <p:spPr>
          <a:xfrm>
            <a:off x="6766560" y="3652345"/>
            <a:ext cx="2377440" cy="1569660"/>
          </a:xfrm>
          <a:prstGeom prst="rect">
            <a:avLst/>
          </a:prstGeom>
          <a:noFill/>
        </p:spPr>
        <p:txBody>
          <a:bodyPr wrap="square" rtlCol="0">
            <a:spAutoFit/>
          </a:bodyPr>
          <a:lstStyle/>
          <a:p>
            <a:pPr algn="ctr"/>
            <a:r>
              <a:rPr lang="en-IN" sz="2400" b="1" u="sng" dirty="0">
                <a:solidFill>
                  <a:schemeClr val="tx1"/>
                </a:solidFill>
                <a:effectLst>
                  <a:outerShdw blurRad="38100" dist="38100" dir="2700000" algn="tl">
                    <a:srgbClr val="000000">
                      <a:alpha val="43137"/>
                    </a:srgbClr>
                  </a:outerShdw>
                </a:effectLst>
                <a:latin typeface="+mj-lt"/>
              </a:rPr>
              <a:t>Result: </a:t>
            </a:r>
          </a:p>
          <a:p>
            <a:pPr algn="ctr"/>
            <a:r>
              <a:rPr lang="en-IN" sz="2400" b="1" i="0" dirty="0">
                <a:solidFill>
                  <a:srgbClr val="000000"/>
                </a:solidFill>
                <a:effectLst/>
                <a:highlight>
                  <a:srgbClr val="FFFFFF"/>
                </a:highlight>
                <a:latin typeface="Arial" panose="020B0604020202020204" pitchFamily="34" charset="0"/>
              </a:rPr>
              <a:t>Patient has liver disease</a:t>
            </a:r>
          </a:p>
          <a:p>
            <a:pPr algn="ctr"/>
            <a:r>
              <a:rPr lang="en-IN" sz="2400" b="1" u="sng" dirty="0">
                <a:solidFill>
                  <a:schemeClr val="tx1"/>
                </a:solidFill>
                <a:effectLst>
                  <a:outerShdw blurRad="38100" dist="38100" dir="2700000" algn="tl">
                    <a:srgbClr val="000000">
                      <a:alpha val="43137"/>
                    </a:srgbClr>
                  </a:outerShdw>
                </a:effectLst>
                <a:latin typeface="+mj-lt"/>
              </a:rPr>
              <a:t> </a:t>
            </a:r>
          </a:p>
        </p:txBody>
      </p:sp>
      <p:pic>
        <p:nvPicPr>
          <p:cNvPr id="3" name="Picture 2">
            <a:extLst>
              <a:ext uri="{FF2B5EF4-FFF2-40B4-BE49-F238E27FC236}">
                <a16:creationId xmlns:a16="http://schemas.microsoft.com/office/drawing/2014/main" id="{895BCA38-684E-537E-74F7-29FDCDF1DFD5}"/>
              </a:ext>
            </a:extLst>
          </p:cNvPr>
          <p:cNvPicPr>
            <a:picLocks noChangeAspect="1"/>
          </p:cNvPicPr>
          <p:nvPr/>
        </p:nvPicPr>
        <p:blipFill>
          <a:blip r:embed="rId3"/>
          <a:stretch>
            <a:fillRect/>
          </a:stretch>
        </p:blipFill>
        <p:spPr>
          <a:xfrm>
            <a:off x="0" y="78505"/>
            <a:ext cx="6928624" cy="4709085"/>
          </a:xfrm>
          <a:prstGeom prst="rect">
            <a:avLst/>
          </a:prstGeom>
        </p:spPr>
      </p:pic>
    </p:spTree>
    <p:extLst>
      <p:ext uri="{BB962C8B-B14F-4D97-AF65-F5344CB8AC3E}">
        <p14:creationId xmlns:p14="http://schemas.microsoft.com/office/powerpoint/2010/main" val="23201354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
        <p:cNvGrpSpPr/>
        <p:nvPr/>
      </p:nvGrpSpPr>
      <p:grpSpPr>
        <a:xfrm>
          <a:off x="0" y="0"/>
          <a:ext cx="0" cy="0"/>
          <a:chOff x="0" y="0"/>
          <a:chExt cx="0" cy="0"/>
        </a:xfrm>
      </p:grpSpPr>
      <p:sp>
        <p:nvSpPr>
          <p:cNvPr id="126" name="Google Shape;126;p23"/>
          <p:cNvSpPr txBox="1"/>
          <p:nvPr/>
        </p:nvSpPr>
        <p:spPr>
          <a:xfrm>
            <a:off x="59992" y="265644"/>
            <a:ext cx="3805764" cy="86434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u="sng" dirty="0">
                <a:solidFill>
                  <a:schemeClr val="dk1"/>
                </a:solidFill>
                <a:effectLst>
                  <a:outerShdw blurRad="38100" dist="38100" dir="2700000" algn="tl">
                    <a:srgbClr val="000000">
                      <a:alpha val="43137"/>
                    </a:srgbClr>
                  </a:outerShdw>
                </a:effectLst>
                <a:latin typeface="IBM Plex Sans Medium"/>
                <a:ea typeface="IBM Plex Sans Medium"/>
                <a:cs typeface="IBM Plex Sans Medium"/>
                <a:sym typeface="IBM Plex Sans Medium"/>
              </a:rPr>
              <a:t>Conclusion</a:t>
            </a:r>
            <a:endParaRPr sz="3600" b="1" u="sng" dirty="0">
              <a:solidFill>
                <a:schemeClr val="dk1"/>
              </a:solidFill>
              <a:effectLst>
                <a:outerShdw blurRad="38100" dist="38100" dir="2700000" algn="tl">
                  <a:srgbClr val="000000">
                    <a:alpha val="43137"/>
                  </a:srgbClr>
                </a:outerShdw>
              </a:effectLst>
              <a:latin typeface="IBM Plex Sans Medium"/>
              <a:ea typeface="IBM Plex Sans Medium"/>
              <a:cs typeface="IBM Plex Sans Medium"/>
              <a:sym typeface="IBM Plex Sans Medium"/>
            </a:endParaRPr>
          </a:p>
        </p:txBody>
      </p:sp>
      <p:sp>
        <p:nvSpPr>
          <p:cNvPr id="127" name="Google Shape;127;p23"/>
          <p:cNvSpPr txBox="1"/>
          <p:nvPr/>
        </p:nvSpPr>
        <p:spPr>
          <a:xfrm>
            <a:off x="721112" y="1602106"/>
            <a:ext cx="8534400" cy="2613055"/>
          </a:xfrm>
          <a:prstGeom prst="rect">
            <a:avLst/>
          </a:prstGeom>
          <a:noFill/>
          <a:ln>
            <a:noFill/>
          </a:ln>
        </p:spPr>
        <p:txBody>
          <a:bodyPr spcFirstLastPara="1" wrap="square" lIns="91425" tIns="91425" rIns="91425" bIns="91425" anchor="t" anchorCtr="0">
            <a:noAutofit/>
          </a:bodyPr>
          <a:lstStyle/>
          <a:p>
            <a:pPr marL="114300" lvl="0" algn="l" rtl="0">
              <a:spcBef>
                <a:spcPts val="0"/>
              </a:spcBef>
              <a:spcAft>
                <a:spcPts val="0"/>
              </a:spcAft>
              <a:buClr>
                <a:schemeClr val="dk1"/>
              </a:buClr>
              <a:buSzPts val="1800"/>
            </a:pPr>
            <a:r>
              <a:rPr lang="en-US" sz="2000" dirty="0"/>
              <a:t>Predicting multiple diseases using machine learning aligns with and supports the achievement of several UNSDGs by promoting early detection, improving health outcomes, reducing healthcare costs, and addressing health disparities. This approach fosters healthier communities, enhances economic stability, and contributes to overall societal well-being, thereby making significant strides towards the global goals of sustainable development.</a:t>
            </a:r>
            <a:endParaRPr sz="1600" dirty="0">
              <a:solidFill>
                <a:schemeClr val="dk1"/>
              </a:solidFill>
            </a:endParaRPr>
          </a:p>
        </p:txBody>
      </p:sp>
      <p:sp>
        <p:nvSpPr>
          <p:cNvPr id="128" name="Google Shape;128;p23"/>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2"/>
        <p:cNvGrpSpPr/>
        <p:nvPr/>
      </p:nvGrpSpPr>
      <p:grpSpPr>
        <a:xfrm>
          <a:off x="0" y="0"/>
          <a:ext cx="0" cy="0"/>
          <a:chOff x="0" y="0"/>
          <a:chExt cx="0" cy="0"/>
        </a:xfrm>
      </p:grpSpPr>
      <p:sp>
        <p:nvSpPr>
          <p:cNvPr id="133" name="Google Shape;133;p24"/>
          <p:cNvSpPr txBox="1"/>
          <p:nvPr/>
        </p:nvSpPr>
        <p:spPr>
          <a:xfrm>
            <a:off x="68742" y="179577"/>
            <a:ext cx="2963100" cy="4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b="1" u="sng" dirty="0">
                <a:solidFill>
                  <a:schemeClr val="dk1"/>
                </a:solidFill>
                <a:effectLst>
                  <a:outerShdw blurRad="38100" dist="38100" dir="2700000" algn="tl">
                    <a:srgbClr val="000000">
                      <a:alpha val="43137"/>
                    </a:srgbClr>
                  </a:outerShdw>
                </a:effectLst>
                <a:latin typeface="IBM Plex Sans Medium"/>
                <a:ea typeface="IBM Plex Sans Medium"/>
                <a:cs typeface="IBM Plex Sans Medium"/>
                <a:sym typeface="IBM Plex Sans Medium"/>
              </a:rPr>
              <a:t>References</a:t>
            </a:r>
            <a:endParaRPr sz="1800" b="1" u="sng" dirty="0">
              <a:solidFill>
                <a:schemeClr val="dk1"/>
              </a:solidFill>
              <a:effectLst>
                <a:outerShdw blurRad="38100" dist="38100" dir="2700000" algn="tl">
                  <a:srgbClr val="000000">
                    <a:alpha val="43137"/>
                  </a:srgbClr>
                </a:outerShdw>
              </a:effectLst>
              <a:latin typeface="IBM Plex Sans Medium"/>
              <a:ea typeface="IBM Plex Sans Medium"/>
              <a:cs typeface="IBM Plex Sans Medium"/>
              <a:sym typeface="IBM Plex Sans Medium"/>
            </a:endParaRPr>
          </a:p>
        </p:txBody>
      </p:sp>
      <p:sp>
        <p:nvSpPr>
          <p:cNvPr id="134" name="Google Shape;134;p24"/>
          <p:cNvSpPr txBox="1"/>
          <p:nvPr/>
        </p:nvSpPr>
        <p:spPr>
          <a:xfrm>
            <a:off x="929267" y="1059412"/>
            <a:ext cx="7649737" cy="3334167"/>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Arial" panose="020B0604020202020204" pitchFamily="34" charset="0"/>
              <a:buChar char="•"/>
            </a:pPr>
            <a:r>
              <a:rPr lang="en" sz="2000" b="1" u="sng" dirty="0">
                <a:solidFill>
                  <a:schemeClr val="dk1"/>
                </a:solidFill>
              </a:rPr>
              <a:t>Data</a:t>
            </a:r>
            <a:r>
              <a:rPr lang="en" sz="2400" b="1" u="sng" dirty="0">
                <a:solidFill>
                  <a:schemeClr val="dk1"/>
                </a:solidFill>
              </a:rPr>
              <a:t> </a:t>
            </a:r>
            <a:r>
              <a:rPr lang="en" sz="2000" b="1" u="sng" dirty="0">
                <a:solidFill>
                  <a:schemeClr val="dk1"/>
                </a:solidFill>
              </a:rPr>
              <a:t>Sources</a:t>
            </a:r>
            <a:r>
              <a:rPr lang="en" sz="2400" b="1" u="sng" dirty="0">
                <a:solidFill>
                  <a:schemeClr val="dk1"/>
                </a:solidFill>
              </a:rPr>
              <a:t>:</a:t>
            </a:r>
            <a:r>
              <a:rPr lang="en-US" sz="1800" b="0" i="0" u="none" strike="noStrike" cap="none" dirty="0">
                <a:solidFill>
                  <a:schemeClr val="tx1"/>
                </a:solidFill>
                <a:latin typeface="Arial"/>
                <a:ea typeface="Arial"/>
                <a:cs typeface="Arial"/>
                <a:sym typeface="Arial"/>
              </a:rPr>
              <a:t>  The dataset used in this project is taken from Kaggle. There are several attributes in the data set on which we are  predicting, analyzing, visualizing of Multiple Chronic Disease</a:t>
            </a:r>
            <a:endParaRPr sz="1800" dirty="0">
              <a:solidFill>
                <a:schemeClr val="dk1"/>
              </a:solidFill>
            </a:endParaRPr>
          </a:p>
          <a:p>
            <a:pPr marL="342900" lvl="0" indent="-342900" algn="just">
              <a:lnSpc>
                <a:spcPct val="115000"/>
              </a:lnSpc>
              <a:buFont typeface="Arial" panose="020B0604020202020204" pitchFamily="34" charset="0"/>
              <a:buChar char="•"/>
            </a:pPr>
            <a:r>
              <a:rPr lang="en-IN" sz="2000" strike="noStrike" dirty="0">
                <a:effectLst/>
                <a:latin typeface="Arial" panose="020B0604020202020204" pitchFamily="34" charset="0"/>
                <a:ea typeface="Arial" panose="020B0604020202020204" pitchFamily="34" charset="0"/>
              </a:rPr>
              <a:t> </a:t>
            </a:r>
            <a:r>
              <a:rPr lang="en-IN" sz="2000" b="1" u="sng" strike="noStrike" dirty="0">
                <a:effectLst/>
                <a:latin typeface="Arial" panose="020B0604020202020204" pitchFamily="34" charset="0"/>
                <a:ea typeface="Arial" panose="020B0604020202020204" pitchFamily="34" charset="0"/>
              </a:rPr>
              <a:t>Python: </a:t>
            </a:r>
            <a:r>
              <a:rPr lang="en-IN" sz="1800" u="none" strike="noStrike" dirty="0">
                <a:effectLst/>
                <a:latin typeface="Arial" panose="020B0604020202020204" pitchFamily="34" charset="0"/>
                <a:ea typeface="Arial" panose="020B0604020202020204" pitchFamily="34" charset="0"/>
              </a:rPr>
              <a:t>For data cleaning, analysis, and visualization, using          libraries such as Pandas, NumPy, Scikit-learn, Matplotlib, and Seaborn.</a:t>
            </a:r>
          </a:p>
          <a:p>
            <a:pPr marL="342900" lvl="0" indent="-342900" algn="just">
              <a:lnSpc>
                <a:spcPct val="115000"/>
              </a:lnSpc>
              <a:buFont typeface="Arial" panose="020B0604020202020204" pitchFamily="34" charset="0"/>
              <a:buChar char="•"/>
            </a:pPr>
            <a:r>
              <a:rPr lang="en-IN" sz="2000" strike="noStrike" dirty="0">
                <a:effectLst/>
                <a:latin typeface="Arial" panose="020B0604020202020204" pitchFamily="34" charset="0"/>
                <a:ea typeface="Arial" panose="020B0604020202020204" pitchFamily="34" charset="0"/>
              </a:rPr>
              <a:t> </a:t>
            </a:r>
            <a:r>
              <a:rPr lang="en-IN" sz="2000" b="1" u="sng" strike="noStrike" dirty="0">
                <a:effectLst/>
                <a:latin typeface="Arial" panose="020B0604020202020204" pitchFamily="34" charset="0"/>
                <a:ea typeface="Arial" panose="020B0604020202020204" pitchFamily="34" charset="0"/>
              </a:rPr>
              <a:t>VS Code: </a:t>
            </a:r>
            <a:r>
              <a:rPr lang="en-IN" sz="1800" u="none" strike="noStrike" dirty="0">
                <a:effectLst/>
                <a:latin typeface="Arial" panose="020B0604020202020204" pitchFamily="34" charset="0"/>
                <a:ea typeface="Arial" panose="020B0604020202020204" pitchFamily="34" charset="0"/>
              </a:rPr>
              <a:t>For documenting the analysis process and visualizations.</a:t>
            </a:r>
          </a:p>
          <a:p>
            <a:pPr marL="342900" lvl="0" indent="-342900" algn="just">
              <a:lnSpc>
                <a:spcPct val="115000"/>
              </a:lnSpc>
              <a:buFont typeface="Arial" panose="020B0604020202020204" pitchFamily="34" charset="0"/>
              <a:buChar char="•"/>
            </a:pPr>
            <a:r>
              <a:rPr lang="en-IN" sz="2000" dirty="0">
                <a:latin typeface="Arial" panose="020B0604020202020204" pitchFamily="34" charset="0"/>
                <a:ea typeface="Arial" panose="020B0604020202020204" pitchFamily="34" charset="0"/>
              </a:rPr>
              <a:t> </a:t>
            </a:r>
            <a:r>
              <a:rPr lang="en-IN" sz="2000" b="1" u="sng" strike="noStrike" dirty="0">
                <a:effectLst/>
                <a:latin typeface="Arial" panose="020B0604020202020204" pitchFamily="34" charset="0"/>
                <a:ea typeface="Arial" panose="020B0604020202020204" pitchFamily="34" charset="0"/>
              </a:rPr>
              <a:t>Scikit-learn: </a:t>
            </a:r>
            <a:r>
              <a:rPr lang="en-IN" sz="1800" u="none" strike="noStrike" dirty="0">
                <a:effectLst/>
                <a:latin typeface="Arial" panose="020B0604020202020204" pitchFamily="34" charset="0"/>
                <a:ea typeface="Arial" panose="020B0604020202020204" pitchFamily="34" charset="0"/>
              </a:rPr>
              <a:t>For developing predictive models and machine learning algorithms.</a:t>
            </a:r>
          </a:p>
          <a:p>
            <a:pPr marL="457200" indent="-342900">
              <a:buClr>
                <a:schemeClr val="dk1"/>
              </a:buClr>
              <a:buSzPts val="1800"/>
              <a:buFont typeface="Arial"/>
              <a:buChar char="●"/>
            </a:pPr>
            <a:endParaRPr lang="en" sz="2400" b="1" u="sng" dirty="0">
              <a:solidFill>
                <a:schemeClr val="dk1"/>
              </a:solidFill>
            </a:endParaRPr>
          </a:p>
        </p:txBody>
      </p:sp>
      <p:sp>
        <p:nvSpPr>
          <p:cNvPr id="135" name="Google Shape;135;p24"/>
          <p:cNvSpPr/>
          <p:nvPr/>
        </p:nvSpPr>
        <p:spPr>
          <a:xfrm rot="10800000" flipH="1">
            <a:off x="0" y="4976700"/>
            <a:ext cx="9144000" cy="166800"/>
          </a:xfrm>
          <a:prstGeom prst="rect">
            <a:avLst/>
          </a:prstGeom>
          <a:solidFill>
            <a:srgbClr val="061727"/>
          </a:solidFill>
          <a:ln w="9525" cap="flat" cmpd="sng">
            <a:solidFill>
              <a:srgbClr val="06172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1224</Words>
  <Application>Microsoft Office PowerPoint</Application>
  <PresentationFormat>On-screen Show (16:9)</PresentationFormat>
  <Paragraphs>129</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IBM Plex Sans</vt:lpstr>
      <vt:lpstr>Inter</vt:lpstr>
      <vt:lpstr>IBM Plex Sans Medium</vt:lpstr>
      <vt:lpstr>Times New Roman</vt:lpstr>
      <vt:lpstr>ui-sans-serif</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Nishant .</cp:lastModifiedBy>
  <cp:revision>3</cp:revision>
  <dcterms:modified xsi:type="dcterms:W3CDTF">2024-08-03T13:37:20Z</dcterms:modified>
</cp:coreProperties>
</file>